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handoutMasterIdLst>
    <p:handoutMasterId r:id="rId31"/>
  </p:handoutMasterIdLst>
  <p:sldIdLst>
    <p:sldId id="261" r:id="rId3"/>
    <p:sldId id="290" r:id="rId4"/>
    <p:sldId id="277" r:id="rId5"/>
    <p:sldId id="291" r:id="rId6"/>
    <p:sldId id="297" r:id="rId7"/>
    <p:sldId id="296" r:id="rId8"/>
    <p:sldId id="318" r:id="rId9"/>
    <p:sldId id="298" r:id="rId10"/>
    <p:sldId id="294" r:id="rId12"/>
    <p:sldId id="295" r:id="rId13"/>
    <p:sldId id="310" r:id="rId14"/>
    <p:sldId id="309" r:id="rId15"/>
    <p:sldId id="311" r:id="rId16"/>
    <p:sldId id="312" r:id="rId17"/>
    <p:sldId id="314" r:id="rId18"/>
    <p:sldId id="315" r:id="rId19"/>
    <p:sldId id="316" r:id="rId20"/>
    <p:sldId id="293" r:id="rId21"/>
    <p:sldId id="299" r:id="rId22"/>
    <p:sldId id="300" r:id="rId23"/>
    <p:sldId id="303" r:id="rId24"/>
    <p:sldId id="306" r:id="rId25"/>
    <p:sldId id="305" r:id="rId26"/>
    <p:sldId id="284" r:id="rId27"/>
    <p:sldId id="302" r:id="rId28"/>
    <p:sldId id="285" r:id="rId29"/>
    <p:sldId id="288"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SHVEENA"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EC7AD"/>
    <a:srgbClr val="709D6F"/>
    <a:srgbClr val="BD4F9B"/>
    <a:srgbClr val="FFFFFF"/>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78" autoAdjust="0"/>
    <p:restoredTop sz="94590" autoAdjust="0"/>
  </p:normalViewPr>
  <p:slideViewPr>
    <p:cSldViewPr>
      <p:cViewPr varScale="1">
        <p:scale>
          <a:sx n="63" d="100"/>
          <a:sy n="63" d="100"/>
        </p:scale>
        <p:origin x="1372"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90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5" Type="http://schemas.openxmlformats.org/officeDocument/2006/relationships/commentAuthors" Target="commentAuthors.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handoutMaster" Target="handoutMasters/handoutMaster1.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1-11-07T12:32:30.567" idx="1">
    <p:pos x="4464" y="1392"/>
    <p:tex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3472FC0-3A6E-4FDF-98C7-05D53ADA3185}" type="datetimeFigureOut">
              <a:rPr lang="en-US" smtClean="0"/>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7E15A7B-879F-45B5-9291-0F55AE53DB35}"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F44B48-72A2-4A15-9A9B-0DA2BF7C6B02}"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238FA3-189B-4AA8-9E46-1FED810FB611}"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661BD90B-8B74-4A70-9592-407B507F5CFA}" type="datetime3">
              <a:rPr lang="en-US" smtClean="0"/>
            </a:fld>
            <a:endParaRPr lang="en-US"/>
          </a:p>
        </p:txBody>
      </p:sp>
      <p:sp>
        <p:nvSpPr>
          <p:cNvPr id="5" name="Footer Placeholder 4"/>
          <p:cNvSpPr>
            <a:spLocks noGrp="1"/>
          </p:cNvSpPr>
          <p:nvPr>
            <p:ph type="ftr" sz="quarter" idx="11"/>
          </p:nvPr>
        </p:nvSpPr>
        <p:spPr/>
        <p:txBody>
          <a:bodyPr/>
          <a:lstStyle/>
          <a:p>
            <a:r>
              <a:rPr lang="en-US"/>
              <a:t>Department of CSE</a:t>
            </a:r>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D5EFACEF-20B2-4FB6-8C2A-91106E3866EC}" type="datetime3">
              <a:rPr lang="en-US" smtClean="0"/>
            </a:fld>
            <a:endParaRPr lang="en-US"/>
          </a:p>
        </p:txBody>
      </p:sp>
      <p:sp>
        <p:nvSpPr>
          <p:cNvPr id="5" name="Footer Placeholder 4"/>
          <p:cNvSpPr>
            <a:spLocks noGrp="1"/>
          </p:cNvSpPr>
          <p:nvPr>
            <p:ph type="ftr" sz="quarter" idx="11"/>
          </p:nvPr>
        </p:nvSpPr>
        <p:spPr/>
        <p:txBody>
          <a:bodyPr/>
          <a:lstStyle/>
          <a:p>
            <a:r>
              <a:rPr lang="en-US"/>
              <a:t>Department of CSE</a:t>
            </a:r>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4CDD58F-3EA1-4B2E-B85C-14873584A085}" type="datetime3">
              <a:rPr lang="en-US" smtClean="0"/>
            </a:fld>
            <a:endParaRPr lang="en-US"/>
          </a:p>
        </p:txBody>
      </p:sp>
      <p:sp>
        <p:nvSpPr>
          <p:cNvPr id="5" name="Footer Placeholder 4"/>
          <p:cNvSpPr>
            <a:spLocks noGrp="1"/>
          </p:cNvSpPr>
          <p:nvPr>
            <p:ph type="ftr" sz="quarter" idx="11"/>
          </p:nvPr>
        </p:nvSpPr>
        <p:spPr/>
        <p:txBody>
          <a:bodyPr/>
          <a:lstStyle/>
          <a:p>
            <a:r>
              <a:rPr lang="en-US"/>
              <a:t>Department of CSE</a:t>
            </a:r>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E32AF94F-DF57-463C-88B5-6C9FBF6C7E4B}" type="datetime3">
              <a:rPr lang="en-US" smtClean="0"/>
            </a:fld>
            <a:endParaRPr lang="en-US"/>
          </a:p>
        </p:txBody>
      </p:sp>
      <p:sp>
        <p:nvSpPr>
          <p:cNvPr id="6" name="Footer Placeholder 5"/>
          <p:cNvSpPr>
            <a:spLocks noGrp="1"/>
          </p:cNvSpPr>
          <p:nvPr>
            <p:ph type="ftr" sz="quarter" idx="11"/>
          </p:nvPr>
        </p:nvSpPr>
        <p:spPr/>
        <p:txBody>
          <a:bodyPr/>
          <a:lstStyle/>
          <a:p>
            <a:r>
              <a:rPr lang="en-US"/>
              <a:t>Department of CSE</a:t>
            </a:r>
            <a:endParaRPr lang="en-US"/>
          </a:p>
        </p:txBody>
      </p:sp>
      <p:sp>
        <p:nvSpPr>
          <p:cNvPr id="7" name="Slide Number Placeholder 6"/>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FBF6B1E7-D878-4F20-B4FA-D5C12E48ED59}" type="datetime3">
              <a:rPr lang="en-US" smtClean="0"/>
            </a:fld>
            <a:endParaRPr lang="en-US"/>
          </a:p>
        </p:txBody>
      </p:sp>
      <p:sp>
        <p:nvSpPr>
          <p:cNvPr id="8" name="Footer Placeholder 7"/>
          <p:cNvSpPr>
            <a:spLocks noGrp="1"/>
          </p:cNvSpPr>
          <p:nvPr>
            <p:ph type="ftr" sz="quarter" idx="11"/>
          </p:nvPr>
        </p:nvSpPr>
        <p:spPr/>
        <p:txBody>
          <a:bodyPr/>
          <a:lstStyle/>
          <a:p>
            <a:r>
              <a:rPr lang="en-US"/>
              <a:t>Department of CSE</a:t>
            </a:r>
            <a:endParaRPr lang="en-US"/>
          </a:p>
        </p:txBody>
      </p:sp>
      <p:sp>
        <p:nvSpPr>
          <p:cNvPr id="9" name="Slide Number Placeholder 8"/>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63100B7D-0BDB-49E0-8F26-2CA3EC7656AA}" type="datetime3">
              <a:rPr lang="en-US" smtClean="0"/>
            </a:fld>
            <a:endParaRPr lang="en-US"/>
          </a:p>
        </p:txBody>
      </p:sp>
      <p:sp>
        <p:nvSpPr>
          <p:cNvPr id="4" name="Footer Placeholder 3"/>
          <p:cNvSpPr>
            <a:spLocks noGrp="1"/>
          </p:cNvSpPr>
          <p:nvPr>
            <p:ph type="ftr" sz="quarter" idx="11"/>
          </p:nvPr>
        </p:nvSpPr>
        <p:spPr/>
        <p:txBody>
          <a:bodyPr/>
          <a:lstStyle/>
          <a:p>
            <a:r>
              <a:rPr lang="en-US"/>
              <a:t>Department of CSE</a:t>
            </a:r>
            <a:endParaRPr lang="en-US"/>
          </a:p>
        </p:txBody>
      </p:sp>
      <p:sp>
        <p:nvSpPr>
          <p:cNvPr id="5" name="Slide Number Placeholder 4"/>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C1D0FF-9F2F-4023-9B9F-103E7CF427CC}" type="datetime3">
              <a:rPr lang="en-US" smtClean="0"/>
            </a:fld>
            <a:endParaRPr lang="en-US"/>
          </a:p>
        </p:txBody>
      </p:sp>
      <p:sp>
        <p:nvSpPr>
          <p:cNvPr id="3" name="Footer Placeholder 2"/>
          <p:cNvSpPr>
            <a:spLocks noGrp="1"/>
          </p:cNvSpPr>
          <p:nvPr>
            <p:ph type="ftr" sz="quarter" idx="11"/>
          </p:nvPr>
        </p:nvSpPr>
        <p:spPr/>
        <p:txBody>
          <a:bodyPr/>
          <a:lstStyle/>
          <a:p>
            <a:r>
              <a:rPr lang="en-US"/>
              <a:t>Department of CSE</a:t>
            </a:r>
            <a:endParaRPr lang="en-US"/>
          </a:p>
        </p:txBody>
      </p:sp>
      <p:sp>
        <p:nvSpPr>
          <p:cNvPr id="4" name="Slide Number Placeholder 3"/>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D1C5B3-2582-4CE4-9B3A-FCA18113FB66}" type="datetime3">
              <a:rPr lang="en-US" smtClean="0"/>
            </a:fld>
            <a:endParaRPr lang="en-US"/>
          </a:p>
        </p:txBody>
      </p:sp>
      <p:sp>
        <p:nvSpPr>
          <p:cNvPr id="6" name="Footer Placeholder 5"/>
          <p:cNvSpPr>
            <a:spLocks noGrp="1"/>
          </p:cNvSpPr>
          <p:nvPr>
            <p:ph type="ftr" sz="quarter" idx="11"/>
          </p:nvPr>
        </p:nvSpPr>
        <p:spPr/>
        <p:txBody>
          <a:bodyPr/>
          <a:lstStyle/>
          <a:p>
            <a:r>
              <a:rPr lang="en-US"/>
              <a:t>Department of CSE</a:t>
            </a:r>
            <a:endParaRPr lang="en-US"/>
          </a:p>
        </p:txBody>
      </p:sp>
      <p:sp>
        <p:nvSpPr>
          <p:cNvPr id="7" name="Slide Number Placeholder 6"/>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DEEB43C7-E711-423E-A470-4F0593AC26D9}" type="datetime3">
              <a:rPr lang="en-US" smtClean="0"/>
            </a:fld>
            <a:endParaRPr lang="en-US"/>
          </a:p>
        </p:txBody>
      </p:sp>
      <p:sp>
        <p:nvSpPr>
          <p:cNvPr id="6" name="Footer Placeholder 5"/>
          <p:cNvSpPr>
            <a:spLocks noGrp="1"/>
          </p:cNvSpPr>
          <p:nvPr>
            <p:ph type="ftr" sz="quarter" idx="11"/>
          </p:nvPr>
        </p:nvSpPr>
        <p:spPr/>
        <p:txBody>
          <a:bodyPr/>
          <a:lstStyle/>
          <a:p>
            <a:r>
              <a:rPr lang="en-US"/>
              <a:t>Department of CSE</a:t>
            </a:r>
            <a:endParaRPr lang="en-US"/>
          </a:p>
        </p:txBody>
      </p:sp>
      <p:sp>
        <p:nvSpPr>
          <p:cNvPr id="7" name="Slide Number Placeholder 6"/>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D12EDDE-6576-4238-BAFD-DEC1E0BA580B}" type="datetime3">
              <a:rPr lang="en-US" smtClean="0"/>
            </a:fld>
            <a:endParaRPr lang="en-US"/>
          </a:p>
        </p:txBody>
      </p:sp>
      <p:sp>
        <p:nvSpPr>
          <p:cNvPr id="5" name="Footer Placeholder 4"/>
          <p:cNvSpPr>
            <a:spLocks noGrp="1"/>
          </p:cNvSpPr>
          <p:nvPr>
            <p:ph type="ftr" sz="quarter" idx="11"/>
          </p:nvPr>
        </p:nvSpPr>
        <p:spPr/>
        <p:txBody>
          <a:bodyPr/>
          <a:lstStyle/>
          <a:p>
            <a:r>
              <a:rPr lang="en-US"/>
              <a:t>Department of CSE</a:t>
            </a:r>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230C70A6-210A-4537-BC5A-84617BBD171C}" type="datetime3">
              <a:rPr lang="en-US" smtClean="0"/>
            </a:fld>
            <a:endParaRPr lang="en-US"/>
          </a:p>
        </p:txBody>
      </p:sp>
      <p:sp>
        <p:nvSpPr>
          <p:cNvPr id="5" name="Footer Placeholder 4"/>
          <p:cNvSpPr>
            <a:spLocks noGrp="1"/>
          </p:cNvSpPr>
          <p:nvPr>
            <p:ph type="ftr" sz="quarter" idx="11"/>
          </p:nvPr>
        </p:nvSpPr>
        <p:spPr/>
        <p:txBody>
          <a:bodyPr/>
          <a:lstStyle/>
          <a:p>
            <a:r>
              <a:rPr lang="en-US"/>
              <a:t>Department of CSE</a:t>
            </a:r>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940" y="228600"/>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A9D314-89D1-47DC-A6F1-EDF673F88B66}" type="datetime3">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Department of CSE</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28076C-CE04-4A00-BFAA-A90EA8355859}" type="slidenum">
              <a:rPr lang="en-US" smtClean="0"/>
            </a:fld>
            <a:endParaRPr lang="en-US"/>
          </a:p>
        </p:txBody>
      </p:sp>
      <p:sp>
        <p:nvSpPr>
          <p:cNvPr id="8" name="Rectangle 7"/>
          <p:cNvSpPr/>
          <p:nvPr userDrawn="1"/>
        </p:nvSpPr>
        <p:spPr>
          <a:xfrm>
            <a:off x="298940" y="177143"/>
            <a:ext cx="8610600" cy="655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p:cNvCxnSpPr/>
          <p:nvPr userDrawn="1"/>
        </p:nvCxnSpPr>
        <p:spPr>
          <a:xfrm>
            <a:off x="298940" y="1219200"/>
            <a:ext cx="8610600" cy="1588"/>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pPr algn="l"/>
            <a:r>
              <a:rPr lang="en-US" dirty="0">
                <a:latin typeface="Arial" panose="020B0604020202020204" pitchFamily="34" charset="0"/>
                <a:cs typeface="Arial" panose="020B0604020202020204" pitchFamily="34" charset="0"/>
              </a:rPr>
              <a:t> </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09600" y="1600200"/>
            <a:ext cx="8229600" cy="4525963"/>
          </a:xfrm>
        </p:spPr>
        <p:txBody>
          <a:bodyPr/>
          <a:lstStyle/>
          <a:p>
            <a:pPr>
              <a:buNone/>
            </a:pPr>
            <a:r>
              <a:rPr lang="en-US" dirty="0"/>
              <a:t> </a:t>
            </a:r>
            <a:endParaRPr lang="en-US" dirty="0"/>
          </a:p>
        </p:txBody>
      </p:sp>
      <p:sp>
        <p:nvSpPr>
          <p:cNvPr id="4" name="Date Placeholder 3"/>
          <p:cNvSpPr>
            <a:spLocks noGrp="1"/>
          </p:cNvSpPr>
          <p:nvPr>
            <p:ph type="dt" sz="half" idx="10"/>
          </p:nvPr>
        </p:nvSpPr>
        <p:spPr/>
        <p:txBody>
          <a:bodyPr/>
          <a:lstStyle/>
          <a:p>
            <a:fld id="{A9124F24-0139-4CE0-957B-189E4B6D45F7}" type="datetime3">
              <a:rPr lang="en-US" sz="1600" b="1" smtClean="0"/>
            </a:fld>
            <a:endParaRPr lang="en-US" sz="1600" b="1" dirty="0"/>
          </a:p>
        </p:txBody>
      </p:sp>
      <p:sp>
        <p:nvSpPr>
          <p:cNvPr id="5" name="Footer Placeholder 4"/>
          <p:cNvSpPr>
            <a:spLocks noGrp="1"/>
          </p:cNvSpPr>
          <p:nvPr>
            <p:ph type="ftr" sz="quarter" idx="11"/>
          </p:nvPr>
        </p:nvSpPr>
        <p:spPr/>
        <p:txBody>
          <a:bodyPr/>
          <a:lstStyle/>
          <a:p>
            <a:r>
              <a:rPr lang="en-US" sz="1600" b="1" dirty="0"/>
              <a:t>Department of CSE</a:t>
            </a:r>
            <a:endParaRPr lang="en-US" sz="1600" b="1" dirty="0"/>
          </a:p>
        </p:txBody>
      </p:sp>
      <p:sp>
        <p:nvSpPr>
          <p:cNvPr id="6" name="Slide Number Placeholder 5"/>
          <p:cNvSpPr>
            <a:spLocks noGrp="1"/>
          </p:cNvSpPr>
          <p:nvPr>
            <p:ph type="sldNum" sz="quarter" idx="12"/>
          </p:nvPr>
        </p:nvSpPr>
        <p:spPr/>
        <p:txBody>
          <a:bodyPr/>
          <a:lstStyle/>
          <a:p>
            <a:fld id="{C0EC1BDC-9B67-430D-970A-E36C75175141}" type="slidenum">
              <a:rPr lang="en-US" sz="1600" smtClean="0"/>
            </a:fld>
            <a:endParaRPr lang="en-US" sz="1600" dirty="0"/>
          </a:p>
        </p:txBody>
      </p:sp>
      <p:sp>
        <p:nvSpPr>
          <p:cNvPr id="7" name="Rectangle 6"/>
          <p:cNvSpPr/>
          <p:nvPr/>
        </p:nvSpPr>
        <p:spPr>
          <a:xfrm>
            <a:off x="1295400" y="1905000"/>
            <a:ext cx="6518845" cy="523220"/>
          </a:xfrm>
          <a:prstGeom prst="rect">
            <a:avLst/>
          </a:prstGeom>
        </p:spPr>
        <p:txBody>
          <a:bodyPr wrap="square">
            <a:spAutoFit/>
          </a:bodyPr>
          <a:lstStyle/>
          <a:p>
            <a:pPr algn="ctr"/>
            <a:r>
              <a:rPr lang="en-US" sz="2800" dirty="0"/>
              <a:t>Concrete Strength Prediction</a:t>
            </a:r>
            <a:endParaRPr lang="en-US" sz="2800" dirty="0"/>
          </a:p>
        </p:txBody>
      </p:sp>
      <p:sp>
        <p:nvSpPr>
          <p:cNvPr id="8" name="Rectangle 7"/>
          <p:cNvSpPr/>
          <p:nvPr/>
        </p:nvSpPr>
        <p:spPr>
          <a:xfrm>
            <a:off x="762000" y="3048000"/>
            <a:ext cx="6400800" cy="2030095"/>
          </a:xfrm>
          <a:prstGeom prst="rect">
            <a:avLst/>
          </a:prstGeom>
        </p:spPr>
        <p:txBody>
          <a:bodyPr wrap="square">
            <a:spAutoFit/>
          </a:bodyPr>
          <a:lstStyle/>
          <a:p>
            <a:endParaRPr lang="en-US" dirty="0">
              <a:latin typeface="Arial" panose="020B0604020202020204" pitchFamily="34" charset="0"/>
              <a:cs typeface="Arial" panose="020B0604020202020204" pitchFamily="34" charset="0"/>
            </a:endParaRPr>
          </a:p>
          <a:p>
            <a:pPr>
              <a:lnSpc>
                <a:spcPct val="150000"/>
              </a:lnSpc>
            </a:pPr>
            <a:r>
              <a:rPr lang="en-US" dirty="0">
                <a:latin typeface="Arial" panose="020B0604020202020204" pitchFamily="34" charset="0"/>
                <a:cs typeface="Arial" panose="020B0604020202020204" pitchFamily="34" charset="0"/>
              </a:rPr>
              <a:t>Name of the Student: Ms. Bala Deepika J</a:t>
            </a:r>
            <a:endParaRPr lang="en-US" dirty="0">
              <a:latin typeface="Arial" panose="020B0604020202020204" pitchFamily="34" charset="0"/>
              <a:cs typeface="Arial" panose="020B0604020202020204" pitchFamily="34" charset="0"/>
            </a:endParaRPr>
          </a:p>
          <a:p>
            <a:pPr>
              <a:lnSpc>
                <a:spcPct val="150000"/>
              </a:lnSpc>
            </a:pPr>
            <a:r>
              <a:rPr lang="en-US" dirty="0">
                <a:latin typeface="Arial" panose="020B0604020202020204" pitchFamily="34" charset="0"/>
                <a:cs typeface="Arial" panose="020B0604020202020204" pitchFamily="34" charset="0"/>
              </a:rPr>
              <a:t>Register Number: 39110112</a:t>
            </a:r>
            <a:endParaRPr lang="en-US" dirty="0">
              <a:latin typeface="Arial" panose="020B0604020202020204" pitchFamily="34" charset="0"/>
              <a:cs typeface="Arial" panose="020B0604020202020204" pitchFamily="34" charset="0"/>
            </a:endParaRPr>
          </a:p>
          <a:p>
            <a:pPr>
              <a:lnSpc>
                <a:spcPct val="150000"/>
              </a:lnSpc>
            </a:pPr>
            <a:r>
              <a:rPr lang="en-US" dirty="0">
                <a:latin typeface="Arial" panose="020B0604020202020204" pitchFamily="34" charset="0"/>
                <a:cs typeface="Arial" panose="020B0604020202020204" pitchFamily="34" charset="0"/>
                <a:sym typeface="+mn-ea"/>
              </a:rPr>
              <a:t>Project Supervisor: Dr.A.C.Santha Sheela,MCA., M.E., Ph.D.,</a:t>
            </a:r>
            <a:endParaRPr lang="en-US" dirty="0">
              <a:latin typeface="Arial" panose="020B0604020202020204" pitchFamily="34" charset="0"/>
              <a:cs typeface="Arial" panose="020B0604020202020204" pitchFamily="34" charset="0"/>
            </a:endParaRPr>
          </a:p>
          <a:p>
            <a:pPr>
              <a:lnSpc>
                <a:spcPct val="150000"/>
              </a:lnSpc>
            </a:pPr>
            <a:endParaRPr lang="en-US" dirty="0">
              <a:latin typeface="Arial" panose="020B0604020202020204" pitchFamily="34" charset="0"/>
              <a:cs typeface="Arial" panose="020B0604020202020204" pitchFamily="34" charset="0"/>
            </a:endParaRPr>
          </a:p>
        </p:txBody>
      </p:sp>
      <p:pic>
        <p:nvPicPr>
          <p:cNvPr id="9" name="Picture 8" descr="new letter head July30_2020.png"/>
          <p:cNvPicPr/>
          <p:nvPr/>
        </p:nvPicPr>
        <p:blipFill>
          <a:blip r:embed="rId1" cstate="print"/>
          <a:stretch>
            <a:fillRect/>
          </a:stretch>
        </p:blipFill>
        <p:spPr>
          <a:xfrm>
            <a:off x="228600" y="1"/>
            <a:ext cx="8686800" cy="17525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pPr algn="l"/>
            <a:r>
              <a:rPr lang="en-US" dirty="0">
                <a:solidFill>
                  <a:srgbClr val="C00000"/>
                </a:solidFill>
                <a:latin typeface="Arial" panose="020B0604020202020204" pitchFamily="34" charset="0"/>
                <a:cs typeface="Arial" panose="020B0604020202020204" pitchFamily="34" charset="0"/>
              </a:rPr>
              <a:t>Presentation Outline</a:t>
            </a:r>
            <a:endParaRPr lang="en-US" dirty="0">
              <a:solidFill>
                <a:srgbClr val="C000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09600" y="1600200"/>
            <a:ext cx="8229600" cy="4525963"/>
          </a:xfrm>
        </p:spPr>
        <p:txBody>
          <a:bodyPr/>
          <a:lstStyle/>
          <a:p>
            <a:r>
              <a:rPr lang="en-US" sz="2000" dirty="0">
                <a:latin typeface="Arial" panose="020B0604020202020204" pitchFamily="34" charset="0"/>
                <a:cs typeface="Arial" panose="020B0604020202020204" pitchFamily="34" charset="0"/>
              </a:rPr>
              <a:t>Course Certificate</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Introduction</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Objectives</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System Architecture / Ideation Map</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Module Implementation</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Application Snapshots</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Results and Discussions</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Conclusion &amp; Future work</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References</a:t>
            </a:r>
            <a:endParaRPr lang="en-US" sz="2000" dirty="0">
              <a:latin typeface="Arial" panose="020B0604020202020204" pitchFamily="34" charset="0"/>
              <a:cs typeface="Arial" panose="020B0604020202020204" pitchFamily="34" charset="0"/>
            </a:endParaRPr>
          </a:p>
          <a:p>
            <a:endParaRPr lang="en-US" dirty="0"/>
          </a:p>
        </p:txBody>
      </p:sp>
      <p:sp>
        <p:nvSpPr>
          <p:cNvPr id="4" name="Date Placeholder 3"/>
          <p:cNvSpPr>
            <a:spLocks noGrp="1"/>
          </p:cNvSpPr>
          <p:nvPr>
            <p:ph type="dt" sz="half" idx="10"/>
          </p:nvPr>
        </p:nvSpPr>
        <p:spPr/>
        <p:txBody>
          <a:bodyPr/>
          <a:lstStyle/>
          <a:p>
            <a:fld id="{3CAC32D5-6F31-400D-9865-7F3E61407242}" type="datetime3">
              <a:rPr lang="en-US" smtClean="0"/>
            </a:fld>
            <a:endParaRPr lang="en-US" dirty="0"/>
          </a:p>
        </p:txBody>
      </p:sp>
      <p:sp>
        <p:nvSpPr>
          <p:cNvPr id="5" name="Footer Placeholder 4"/>
          <p:cNvSpPr>
            <a:spLocks noGrp="1"/>
          </p:cNvSpPr>
          <p:nvPr>
            <p:ph type="ftr" sz="quarter" idx="11"/>
          </p:nvPr>
        </p:nvSpPr>
        <p:spPr/>
        <p:txBody>
          <a:bodyPr/>
          <a:lstStyle/>
          <a:p>
            <a:r>
              <a:rPr lang="en-US"/>
              <a:t>Department of CSE</a:t>
            </a:r>
            <a:endParaRPr lang="en-US" dirty="0"/>
          </a:p>
        </p:txBody>
      </p:sp>
      <p:sp>
        <p:nvSpPr>
          <p:cNvPr id="6" name="Slide Number Placeholder 5"/>
          <p:cNvSpPr>
            <a:spLocks noGrp="1"/>
          </p:cNvSpPr>
          <p:nvPr>
            <p:ph type="sldNum" sz="quarter" idx="12"/>
          </p:nvPr>
        </p:nvSpPr>
        <p:spPr/>
        <p:txBody>
          <a:bodyPr/>
          <a:lstStyle/>
          <a:p>
            <a:fld id="{C0EC1BDC-9B67-430D-970A-E36C75175141}"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p>
            <a:endParaRPr lang="en-US"/>
          </a:p>
        </p:txBody>
      </p:sp>
      <p:sp>
        <p:nvSpPr>
          <p:cNvPr id="4" name="Title 1"/>
          <p:cNvSpPr txBox="1"/>
          <p:nvPr/>
        </p:nvSpPr>
        <p:spPr>
          <a:xfrm>
            <a:off x="533400" y="381000"/>
            <a:ext cx="8229600" cy="655638"/>
          </a:xfrm>
          <a:prstGeom prst="rect">
            <a:avLst/>
          </a:prstGeom>
        </p:spPr>
        <p:txBody>
          <a:bodyPr vert="horz" lIns="91440" tIns="45720" rIns="91440" bIns="45720" rtlCol="0" anchor="ctr">
            <a:normAutofit fontScale="82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dirty="0">
                <a:solidFill>
                  <a:srgbClr val="C00000"/>
                </a:solidFill>
                <a:latin typeface="Arial" panose="020B0604020202020204" pitchFamily="34" charset="0"/>
                <a:cs typeface="Arial" panose="020B0604020202020204" pitchFamily="34" charset="0"/>
              </a:rPr>
              <a:t>Course Certificate</a:t>
            </a:r>
            <a:endParaRPr lang="en-US" dirty="0">
              <a:solidFill>
                <a:srgbClr val="C00000"/>
              </a:solidFill>
              <a:latin typeface="Arial" panose="020B0604020202020204" pitchFamily="34" charset="0"/>
              <a:cs typeface="Arial" panose="020B0604020202020204" pitchFamily="34" charset="0"/>
            </a:endParaRPr>
          </a:p>
        </p:txBody>
      </p:sp>
      <p:sp>
        <p:nvSpPr>
          <p:cNvPr id="6" name="Content Placeholder 2"/>
          <p:cNvSpPr txBox="1"/>
          <p:nvPr/>
        </p:nvSpPr>
        <p:spPr>
          <a:xfrm>
            <a:off x="609600" y="1788459"/>
            <a:ext cx="8001000" cy="34591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80000"/>
              </a:lnSpc>
              <a:buNone/>
            </a:pPr>
            <a:endParaRPr lang="en-US" sz="2800" dirty="0"/>
          </a:p>
        </p:txBody>
      </p:sp>
      <p:sp>
        <p:nvSpPr>
          <p:cNvPr id="7" name="Date Placeholder 6"/>
          <p:cNvSpPr>
            <a:spLocks noGrp="1"/>
          </p:cNvSpPr>
          <p:nvPr>
            <p:ph type="dt" sz="half" idx="10"/>
          </p:nvPr>
        </p:nvSpPr>
        <p:spPr/>
        <p:txBody>
          <a:bodyPr/>
          <a:lstStyle/>
          <a:p>
            <a:fld id="{9A3E1F68-53A7-44EB-AF36-6AAE0C135287}" type="datetime3">
              <a:rPr lang="en-US" smtClean="0"/>
            </a:fld>
            <a:endParaRPr lang="en-US"/>
          </a:p>
        </p:txBody>
      </p:sp>
      <p:sp>
        <p:nvSpPr>
          <p:cNvPr id="8" name="Footer Placeholder 7"/>
          <p:cNvSpPr>
            <a:spLocks noGrp="1"/>
          </p:cNvSpPr>
          <p:nvPr>
            <p:ph type="ftr" sz="quarter" idx="11"/>
          </p:nvPr>
        </p:nvSpPr>
        <p:spPr/>
        <p:txBody>
          <a:bodyPr/>
          <a:lstStyle/>
          <a:p>
            <a:r>
              <a:rPr lang="en-US"/>
              <a:t>Department of CSE</a:t>
            </a:r>
            <a:endParaRPr lang="en-US"/>
          </a:p>
        </p:txBody>
      </p:sp>
      <p:sp>
        <p:nvSpPr>
          <p:cNvPr id="9" name="Slide Number Placeholder 8"/>
          <p:cNvSpPr>
            <a:spLocks noGrp="1"/>
          </p:cNvSpPr>
          <p:nvPr>
            <p:ph type="sldNum" sz="quarter" idx="12"/>
          </p:nvPr>
        </p:nvSpPr>
        <p:spPr/>
        <p:txBody>
          <a:bodyPr/>
          <a:lstStyle/>
          <a:p>
            <a:fld id="{7B28076C-CE04-4A00-BFAA-A90EA8355859}" type="slidenum">
              <a:rPr lang="en-US" smtClean="0"/>
            </a:fld>
            <a:endParaRPr lang="en-US"/>
          </a:p>
        </p:txBody>
      </p:sp>
      <p:pic>
        <p:nvPicPr>
          <p:cNvPr id="15" name="Picture 1"/>
          <p:cNvPicPr>
            <a:picLocks noChangeAspect="1"/>
          </p:cNvPicPr>
          <p:nvPr>
            <p:ph idx="1"/>
          </p:nvPr>
        </p:nvPicPr>
        <p:blipFill>
          <a:blip r:embed="rId1"/>
          <a:stretch>
            <a:fillRect/>
          </a:stretch>
        </p:blipFill>
        <p:spPr>
          <a:xfrm>
            <a:off x="1406525" y="1600200"/>
            <a:ext cx="6329680" cy="43116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533400" y="381000"/>
            <a:ext cx="8229600" cy="655638"/>
          </a:xfrm>
          <a:prstGeom prst="rect">
            <a:avLst/>
          </a:prstGeom>
        </p:spPr>
        <p:txBody>
          <a:bodyPr vert="horz" lIns="91440" tIns="45720" rIns="91440" bIns="45720" rtlCol="0" anchor="ctr">
            <a:normAutofit fontScale="9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dirty="0">
                <a:solidFill>
                  <a:srgbClr val="C00000"/>
                </a:solidFill>
                <a:latin typeface="Arial" panose="020B0604020202020204" pitchFamily="34" charset="0"/>
                <a:cs typeface="Arial" panose="020B0604020202020204" pitchFamily="34" charset="0"/>
              </a:rPr>
              <a:t>Introduction</a:t>
            </a:r>
            <a:endParaRPr lang="en-US" dirty="0">
              <a:solidFill>
                <a:srgbClr val="C00000"/>
              </a:solidFill>
              <a:latin typeface="Arial" panose="020B0604020202020204" pitchFamily="34" charset="0"/>
              <a:cs typeface="Arial" panose="020B0604020202020204" pitchFamily="34" charset="0"/>
            </a:endParaRPr>
          </a:p>
        </p:txBody>
      </p:sp>
      <p:sp>
        <p:nvSpPr>
          <p:cNvPr id="6" name="Content Placeholder 2"/>
          <p:cNvSpPr txBox="1"/>
          <p:nvPr/>
        </p:nvSpPr>
        <p:spPr>
          <a:xfrm>
            <a:off x="457200" y="1447801"/>
            <a:ext cx="8305800" cy="4800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nSpc>
                <a:spcPct val="160000"/>
              </a:lnSpc>
            </a:pPr>
            <a:r>
              <a:rPr lang="en-US" sz="2200" dirty="0">
                <a:latin typeface="Arial" panose="020B0604020202020204" pitchFamily="34" charset="0"/>
                <a:cs typeface="Arial" panose="020B0604020202020204" pitchFamily="34" charset="0"/>
              </a:rPr>
              <a:t>Concrete -- an extremely versatile use in construction , most widely used construction material in use today. </a:t>
            </a:r>
            <a:endParaRPr lang="en-US" sz="2200" dirty="0">
              <a:latin typeface="Arial" panose="020B0604020202020204" pitchFamily="34" charset="0"/>
              <a:cs typeface="Arial" panose="020B0604020202020204" pitchFamily="34" charset="0"/>
            </a:endParaRPr>
          </a:p>
          <a:p>
            <a:pPr marL="514350" indent="-514350">
              <a:lnSpc>
                <a:spcPct val="160000"/>
              </a:lnSpc>
            </a:pPr>
            <a:r>
              <a:rPr lang="en-US" sz="2200" dirty="0">
                <a:latin typeface="Arial" panose="020B0604020202020204" pitchFamily="34" charset="0"/>
                <a:cs typeface="Arial" panose="020B0604020202020204" pitchFamily="34" charset="0"/>
              </a:rPr>
              <a:t>Characteristic strength of the concrete is designated as the compressive strength of a concrete sample that has been cured for 28 days and is determined by the standard cylinder crushing test. In construction works 28 days is a considerable time to wait, while it is essential for quality assurance of concrete and cannot be avoided.</a:t>
            </a:r>
            <a:endParaRPr lang="en-US" sz="2200" dirty="0">
              <a:latin typeface="Arial" panose="020B0604020202020204" pitchFamily="34" charset="0"/>
              <a:cs typeface="Arial" panose="020B0604020202020204" pitchFamily="34" charset="0"/>
            </a:endParaRPr>
          </a:p>
          <a:p>
            <a:pPr marL="514350" indent="-514350">
              <a:lnSpc>
                <a:spcPct val="160000"/>
              </a:lnSpc>
            </a:pPr>
            <a:endParaRPr lang="en-US" sz="2200" dirty="0">
              <a:latin typeface="Arial" panose="020B0604020202020204" pitchFamily="34" charset="0"/>
              <a:cs typeface="Arial" panose="020B0604020202020204" pitchFamily="34" charset="0"/>
            </a:endParaRPr>
          </a:p>
          <a:p>
            <a:pPr algn="just">
              <a:lnSpc>
                <a:spcPct val="80000"/>
              </a:lnSpc>
            </a:pPr>
            <a:endParaRPr lang="en-US" sz="2800" dirty="0"/>
          </a:p>
          <a:p>
            <a:pPr algn="just"/>
            <a:endParaRPr lang="en-US" sz="2800" dirty="0">
              <a:latin typeface="Arial" panose="020B0604020202020204" pitchFamily="34" charset="0"/>
              <a:cs typeface="Arial" panose="020B0604020202020204" pitchFamily="34" charset="0"/>
            </a:endParaRPr>
          </a:p>
          <a:p>
            <a:pPr algn="just"/>
            <a:endParaRPr lang="en-US" sz="2800" dirty="0"/>
          </a:p>
        </p:txBody>
      </p:sp>
      <p:sp>
        <p:nvSpPr>
          <p:cNvPr id="7" name="Date Placeholder 6"/>
          <p:cNvSpPr>
            <a:spLocks noGrp="1"/>
          </p:cNvSpPr>
          <p:nvPr>
            <p:ph type="dt" sz="half" idx="10"/>
          </p:nvPr>
        </p:nvSpPr>
        <p:spPr/>
        <p:txBody>
          <a:bodyPr/>
          <a:lstStyle/>
          <a:p>
            <a:fld id="{7A29D454-43C1-4958-B5DC-F44600E51398}" type="datetime3">
              <a:rPr lang="en-US" smtClean="0"/>
            </a:fld>
            <a:endParaRPr lang="en-US"/>
          </a:p>
        </p:txBody>
      </p:sp>
      <p:sp>
        <p:nvSpPr>
          <p:cNvPr id="8" name="Footer Placeholder 7"/>
          <p:cNvSpPr>
            <a:spLocks noGrp="1"/>
          </p:cNvSpPr>
          <p:nvPr>
            <p:ph type="ftr" sz="quarter" idx="11"/>
          </p:nvPr>
        </p:nvSpPr>
        <p:spPr/>
        <p:txBody>
          <a:bodyPr/>
          <a:lstStyle/>
          <a:p>
            <a:r>
              <a:rPr lang="en-US"/>
              <a:t>Department of CSE</a:t>
            </a:r>
            <a:endParaRPr lang="en-US"/>
          </a:p>
        </p:txBody>
      </p:sp>
      <p:sp>
        <p:nvSpPr>
          <p:cNvPr id="9" name="Slide Number Placeholder 8"/>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2263" y="381000"/>
            <a:ext cx="8215951" cy="601639"/>
          </a:xfrm>
        </p:spPr>
        <p:txBody>
          <a:bodyPr>
            <a:noAutofit/>
          </a:bodyPr>
          <a:lstStyle/>
          <a:p>
            <a:pPr algn="l"/>
            <a:r>
              <a:rPr lang="en-US" dirty="0">
                <a:solidFill>
                  <a:srgbClr val="C00000"/>
                </a:solidFill>
              </a:rPr>
              <a:t>Introduction</a:t>
            </a:r>
            <a:endParaRPr lang="en-US" sz="4000" dirty="0">
              <a:solidFill>
                <a:srgbClr val="C00000"/>
              </a:solidFill>
            </a:endParaRPr>
          </a:p>
        </p:txBody>
      </p:sp>
      <p:sp>
        <p:nvSpPr>
          <p:cNvPr id="3" name="Content Placeholder 2"/>
          <p:cNvSpPr>
            <a:spLocks noGrp="1"/>
          </p:cNvSpPr>
          <p:nvPr>
            <p:ph idx="1"/>
          </p:nvPr>
        </p:nvSpPr>
        <p:spPr>
          <a:xfrm>
            <a:off x="457200" y="1371600"/>
            <a:ext cx="8229600" cy="4754563"/>
          </a:xfrm>
        </p:spPr>
        <p:txBody>
          <a:bodyPr>
            <a:normAutofit fontScale="32500" lnSpcReduction="20000"/>
          </a:bodyPr>
          <a:lstStyle/>
          <a:p>
            <a:pPr marL="514350" indent="-514350">
              <a:lnSpc>
                <a:spcPct val="170000"/>
              </a:lnSpc>
            </a:pPr>
            <a:r>
              <a:rPr lang="en-US" sz="6200" dirty="0">
                <a:latin typeface="Arial" panose="020B0604020202020204" pitchFamily="34" charset="0"/>
                <a:cs typeface="Arial" panose="020B0604020202020204" pitchFamily="34" charset="0"/>
              </a:rPr>
              <a:t>Statistical analysis ------- provides insights into the key factors influencing 28 days compressive strength through correlation analysis.</a:t>
            </a:r>
            <a:endParaRPr lang="en-IN" sz="6200" dirty="0">
              <a:latin typeface="Arial" panose="020B0604020202020204" pitchFamily="34" charset="0"/>
              <a:cs typeface="Arial" panose="020B0604020202020204" pitchFamily="34" charset="0"/>
            </a:endParaRPr>
          </a:p>
          <a:p>
            <a:pPr marL="514350" indent="-514350">
              <a:lnSpc>
                <a:spcPct val="170000"/>
              </a:lnSpc>
            </a:pPr>
            <a:r>
              <a:rPr lang="en-IN" sz="6200" dirty="0">
                <a:latin typeface="Arial" panose="020B0604020202020204" pitchFamily="34" charset="0"/>
                <a:cs typeface="Arial" panose="020B0604020202020204" pitchFamily="34" charset="0"/>
              </a:rPr>
              <a:t>A very relevant problem which demands the attention of communities such as machine learning and data science</a:t>
            </a:r>
            <a:endParaRPr lang="en-US" sz="6200" dirty="0">
              <a:latin typeface="Arial" panose="020B0604020202020204" pitchFamily="34" charset="0"/>
              <a:cs typeface="Arial" panose="020B0604020202020204" pitchFamily="34" charset="0"/>
            </a:endParaRPr>
          </a:p>
          <a:p>
            <a:pPr marL="514350" indent="-514350">
              <a:lnSpc>
                <a:spcPct val="170000"/>
              </a:lnSpc>
            </a:pPr>
            <a:r>
              <a:rPr lang="en-US" sz="6200" dirty="0">
                <a:latin typeface="Arial" panose="020B0604020202020204" pitchFamily="34" charset="0"/>
                <a:cs typeface="Arial" panose="020B0604020202020204" pitchFamily="34" charset="0"/>
              </a:rPr>
              <a:t>Defining the problem statement:</a:t>
            </a:r>
            <a:endParaRPr lang="en-US" sz="6200" dirty="0">
              <a:latin typeface="Arial" panose="020B0604020202020204" pitchFamily="34" charset="0"/>
              <a:cs typeface="Arial" panose="020B0604020202020204" pitchFamily="34" charset="0"/>
            </a:endParaRPr>
          </a:p>
          <a:p>
            <a:pPr marL="514350" indent="-514350">
              <a:lnSpc>
                <a:spcPct val="170000"/>
              </a:lnSpc>
              <a:buNone/>
            </a:pPr>
            <a:r>
              <a:rPr lang="en-US" sz="6200" dirty="0">
                <a:latin typeface="Arial" panose="020B0604020202020204" pitchFamily="34" charset="0"/>
                <a:cs typeface="Arial" panose="020B0604020202020204" pitchFamily="34" charset="0"/>
              </a:rPr>
              <a:t>          Create a ML model which can predict the Strength of concrete</a:t>
            </a:r>
            <a:endParaRPr lang="en-US" sz="6200" dirty="0">
              <a:latin typeface="Arial" panose="020B0604020202020204" pitchFamily="34" charset="0"/>
              <a:cs typeface="Arial" panose="020B0604020202020204" pitchFamily="34" charset="0"/>
            </a:endParaRPr>
          </a:p>
          <a:p>
            <a:pPr marL="514350" indent="-514350">
              <a:lnSpc>
                <a:spcPct val="170000"/>
              </a:lnSpc>
              <a:buNone/>
            </a:pPr>
            <a:r>
              <a:rPr lang="en-US" sz="6200" dirty="0">
                <a:latin typeface="Arial" panose="020B0604020202020204" pitchFamily="34" charset="0"/>
                <a:cs typeface="Arial" panose="020B0604020202020204" pitchFamily="34" charset="0"/>
              </a:rPr>
              <a:t>                     (</a:t>
            </a:r>
            <a:r>
              <a:rPr lang="en-US" sz="6200" dirty="0" err="1">
                <a:latin typeface="Arial" panose="020B0604020202020204" pitchFamily="34" charset="0"/>
                <a:cs typeface="Arial" panose="020B0604020202020204" pitchFamily="34" charset="0"/>
              </a:rPr>
              <a:t>i</a:t>
            </a:r>
            <a:r>
              <a:rPr lang="en-US" sz="6200" dirty="0">
                <a:latin typeface="Arial" panose="020B0604020202020204" pitchFamily="34" charset="0"/>
                <a:cs typeface="Arial" panose="020B0604020202020204" pitchFamily="34" charset="0"/>
              </a:rPr>
              <a:t>)Target Variable: Strength</a:t>
            </a:r>
            <a:endParaRPr lang="en-US" sz="6200" dirty="0">
              <a:latin typeface="Arial" panose="020B0604020202020204" pitchFamily="34" charset="0"/>
              <a:cs typeface="Arial" panose="020B0604020202020204" pitchFamily="34" charset="0"/>
            </a:endParaRPr>
          </a:p>
          <a:p>
            <a:pPr marL="514350" indent="-514350">
              <a:lnSpc>
                <a:spcPct val="170000"/>
              </a:lnSpc>
              <a:buNone/>
            </a:pPr>
            <a:r>
              <a:rPr lang="en-US" sz="6200" dirty="0">
                <a:latin typeface="Arial" panose="020B0604020202020204" pitchFamily="34" charset="0"/>
                <a:cs typeface="Arial" panose="020B0604020202020204" pitchFamily="34" charset="0"/>
              </a:rPr>
              <a:t>                     (ii)Predictors: water, cement, ash, days to dry etc. </a:t>
            </a:r>
            <a:endParaRPr lang="en-US" sz="6200" dirty="0">
              <a:latin typeface="Arial" panose="020B0604020202020204" pitchFamily="34" charset="0"/>
              <a:cs typeface="Arial" panose="020B0604020202020204" pitchFamily="34" charset="0"/>
            </a:endParaRPr>
          </a:p>
          <a:p>
            <a:endParaRPr lang="en-US" dirty="0"/>
          </a:p>
        </p:txBody>
      </p:sp>
      <p:sp>
        <p:nvSpPr>
          <p:cNvPr id="4" name="Date Placeholder 3"/>
          <p:cNvSpPr>
            <a:spLocks noGrp="1"/>
          </p:cNvSpPr>
          <p:nvPr>
            <p:ph type="dt" sz="half" idx="10"/>
          </p:nvPr>
        </p:nvSpPr>
        <p:spPr/>
        <p:txBody>
          <a:bodyPr/>
          <a:lstStyle/>
          <a:p>
            <a:fld id="{D5EFACEF-20B2-4FB6-8C2A-91106E3866EC}" type="datetime3">
              <a:rPr lang="en-US" smtClean="0"/>
            </a:fld>
            <a:endParaRPr lang="en-US"/>
          </a:p>
        </p:txBody>
      </p:sp>
      <p:sp>
        <p:nvSpPr>
          <p:cNvPr id="5" name="Footer Placeholder 4"/>
          <p:cNvSpPr>
            <a:spLocks noGrp="1"/>
          </p:cNvSpPr>
          <p:nvPr>
            <p:ph type="ftr" sz="quarter" idx="11"/>
          </p:nvPr>
        </p:nvSpPr>
        <p:spPr/>
        <p:txBody>
          <a:bodyPr/>
          <a:lstStyle/>
          <a:p>
            <a:r>
              <a:rPr lang="en-US"/>
              <a:t>Department of CSE</a:t>
            </a:r>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68490"/>
            <a:ext cx="8153400" cy="641444"/>
          </a:xfrm>
        </p:spPr>
        <p:txBody>
          <a:bodyPr>
            <a:noAutofit/>
          </a:bodyPr>
          <a:lstStyle/>
          <a:p>
            <a:pPr algn="l"/>
            <a:r>
              <a:rPr lang="en-US" dirty="0">
                <a:solidFill>
                  <a:srgbClr val="C00000"/>
                </a:solidFill>
              </a:rPr>
              <a:t>Objectives</a:t>
            </a:r>
            <a:endParaRPr lang="en-US" dirty="0">
              <a:solidFill>
                <a:srgbClr val="C00000"/>
              </a:solidFill>
            </a:endParaRPr>
          </a:p>
        </p:txBody>
      </p:sp>
      <p:sp>
        <p:nvSpPr>
          <p:cNvPr id="3" name="Content Placeholder 2"/>
          <p:cNvSpPr>
            <a:spLocks noGrp="1"/>
          </p:cNvSpPr>
          <p:nvPr>
            <p:ph idx="1"/>
          </p:nvPr>
        </p:nvSpPr>
        <p:spPr>
          <a:xfrm>
            <a:off x="457200" y="1371600"/>
            <a:ext cx="8229600" cy="5029200"/>
          </a:xfrm>
        </p:spPr>
        <p:txBody>
          <a:bodyPr>
            <a:normAutofit/>
          </a:bodyPr>
          <a:lstStyle/>
          <a:p>
            <a:pPr>
              <a:lnSpc>
                <a:spcPct val="170000"/>
              </a:lnSpc>
              <a:buFont typeface="Wingdings" panose="05000000000000000000" pitchFamily="2" charset="2"/>
              <a:buChar char="Ø"/>
            </a:pPr>
            <a:r>
              <a:rPr lang="en-US" sz="2400" dirty="0">
                <a:latin typeface="Arial" panose="020B0604020202020204" pitchFamily="34" charset="0"/>
                <a:cs typeface="Arial" panose="020B0604020202020204" pitchFamily="34" charset="0"/>
              </a:rPr>
              <a:t>The main objective of Concrete Strength Prediction is to detect the strength of concrete accurately and to minimize the time consumption for Civil Engineers.</a:t>
            </a:r>
            <a:endParaRPr lang="en-US" sz="2400" dirty="0">
              <a:latin typeface="Arial" panose="020B0604020202020204" pitchFamily="34" charset="0"/>
              <a:cs typeface="Arial" panose="020B0604020202020204" pitchFamily="34" charset="0"/>
            </a:endParaRPr>
          </a:p>
          <a:p>
            <a:pPr>
              <a:lnSpc>
                <a:spcPct val="170000"/>
              </a:lnSpc>
              <a:buFont typeface="Wingdings" panose="05000000000000000000" pitchFamily="2" charset="2"/>
              <a:buChar char="Ø"/>
            </a:pPr>
            <a:r>
              <a:rPr lang="en-US" sz="2400" dirty="0">
                <a:latin typeface="Arial" panose="020B0604020202020204" pitchFamily="34" charset="0"/>
                <a:cs typeface="Arial" panose="020B0604020202020204" pitchFamily="34" charset="0"/>
              </a:rPr>
              <a:t>The best model will be helpful for civil engineers in choosing the appropriate concrete for bridges, houses construction.</a:t>
            </a:r>
            <a:endParaRPr lang="en-US" sz="2400" dirty="0">
              <a:latin typeface="Arial" panose="020B0604020202020204" pitchFamily="34" charset="0"/>
              <a:cs typeface="Arial" panose="020B0604020202020204" pitchFamily="34" charset="0"/>
            </a:endParaRPr>
          </a:p>
          <a:p>
            <a:pPr>
              <a:lnSpc>
                <a:spcPct val="170000"/>
              </a:lnSpc>
            </a:pPr>
            <a:endParaRPr lang="en-US" sz="24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D5EFACEF-20B2-4FB6-8C2A-91106E3866EC}" type="datetime3">
              <a:rPr lang="en-US" smtClean="0"/>
            </a:fld>
            <a:endParaRPr lang="en-US"/>
          </a:p>
        </p:txBody>
      </p:sp>
      <p:sp>
        <p:nvSpPr>
          <p:cNvPr id="5" name="Footer Placeholder 4"/>
          <p:cNvSpPr>
            <a:spLocks noGrp="1"/>
          </p:cNvSpPr>
          <p:nvPr>
            <p:ph type="ftr" sz="quarter" idx="11"/>
          </p:nvPr>
        </p:nvSpPr>
        <p:spPr/>
        <p:txBody>
          <a:bodyPr/>
          <a:lstStyle/>
          <a:p>
            <a:r>
              <a:rPr lang="en-US"/>
              <a:t>Department of CSE</a:t>
            </a:r>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AEC7AD"/>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C1D0FF-9F2F-4023-9B9F-103E7CF427CC}" type="datetime3">
              <a:rPr lang="en-US" smtClean="0"/>
            </a:fld>
            <a:endParaRPr lang="en-US"/>
          </a:p>
        </p:txBody>
      </p:sp>
      <p:sp>
        <p:nvSpPr>
          <p:cNvPr id="3" name="Footer Placeholder 2"/>
          <p:cNvSpPr>
            <a:spLocks noGrp="1"/>
          </p:cNvSpPr>
          <p:nvPr>
            <p:ph type="ftr" sz="quarter" idx="11"/>
          </p:nvPr>
        </p:nvSpPr>
        <p:spPr/>
        <p:txBody>
          <a:bodyPr/>
          <a:lstStyle/>
          <a:p>
            <a:r>
              <a:rPr lang="en-US"/>
              <a:t>Department of CSE</a:t>
            </a:r>
            <a:endParaRPr lang="en-US"/>
          </a:p>
        </p:txBody>
      </p:sp>
      <p:sp>
        <p:nvSpPr>
          <p:cNvPr id="4" name="Slide Number Placeholder 3"/>
          <p:cNvSpPr>
            <a:spLocks noGrp="1"/>
          </p:cNvSpPr>
          <p:nvPr>
            <p:ph type="sldNum" sz="quarter" idx="12"/>
          </p:nvPr>
        </p:nvSpPr>
        <p:spPr/>
        <p:txBody>
          <a:bodyPr/>
          <a:lstStyle/>
          <a:p>
            <a:fld id="{7B28076C-CE04-4A00-BFAA-A90EA8355859}" type="slidenum">
              <a:rPr lang="en-US" smtClean="0"/>
            </a:fld>
            <a:endParaRPr lang="en-US"/>
          </a:p>
        </p:txBody>
      </p:sp>
      <p:sp>
        <p:nvSpPr>
          <p:cNvPr id="6" name="Rectangle: Rounded Corners 5"/>
          <p:cNvSpPr/>
          <p:nvPr/>
        </p:nvSpPr>
        <p:spPr>
          <a:xfrm>
            <a:off x="3272790" y="1024962"/>
            <a:ext cx="2484120" cy="511174"/>
          </a:xfrm>
          <a:prstGeom prst="roundRect">
            <a:avLst/>
          </a:prstGeom>
          <a:ln>
            <a:solidFill>
              <a:srgbClr val="00B0F0"/>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System Requirements</a:t>
            </a:r>
            <a:endParaRPr lang="en-IN" b="1" dirty="0">
              <a:ln w="0"/>
              <a:solidFill>
                <a:schemeClr val="tx1"/>
              </a:solidFill>
              <a:effectLst>
                <a:outerShdw blurRad="38100" dist="19050" dir="2700000" algn="tl" rotWithShape="0">
                  <a:schemeClr val="dk1">
                    <a:alpha val="40000"/>
                  </a:schemeClr>
                </a:outerShdw>
              </a:effectLst>
            </a:endParaRPr>
          </a:p>
        </p:txBody>
      </p:sp>
      <p:sp>
        <p:nvSpPr>
          <p:cNvPr id="7" name="Rectangle: Rounded Corners 6"/>
          <p:cNvSpPr/>
          <p:nvPr/>
        </p:nvSpPr>
        <p:spPr>
          <a:xfrm>
            <a:off x="3333750" y="2111443"/>
            <a:ext cx="2362200" cy="511175"/>
          </a:xfrm>
          <a:prstGeom prst="roundRect">
            <a:avLst/>
          </a:prstGeom>
          <a:ln>
            <a:solidFill>
              <a:srgbClr val="00B0F0"/>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b="1" dirty="0"/>
              <a:t>Dataset Description</a:t>
            </a:r>
            <a:endParaRPr lang="en-IN" b="1" dirty="0"/>
          </a:p>
        </p:txBody>
      </p:sp>
      <p:sp>
        <p:nvSpPr>
          <p:cNvPr id="9" name="Rectangle: Rounded Corners 8"/>
          <p:cNvSpPr/>
          <p:nvPr/>
        </p:nvSpPr>
        <p:spPr>
          <a:xfrm>
            <a:off x="2952750" y="3197925"/>
            <a:ext cx="3124200" cy="511175"/>
          </a:xfrm>
          <a:prstGeom prst="roundRect">
            <a:avLst/>
          </a:prstGeom>
          <a:ln>
            <a:solidFill>
              <a:srgbClr val="00B0F0"/>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b="1" dirty="0"/>
              <a:t>Exploratory Data Analysis</a:t>
            </a:r>
            <a:endParaRPr lang="en-IN" b="1" dirty="0"/>
          </a:p>
        </p:txBody>
      </p:sp>
      <p:sp>
        <p:nvSpPr>
          <p:cNvPr id="10" name="Rectangle: Rounded Corners 9"/>
          <p:cNvSpPr/>
          <p:nvPr/>
        </p:nvSpPr>
        <p:spPr>
          <a:xfrm>
            <a:off x="3124200" y="4325718"/>
            <a:ext cx="2895600" cy="590233"/>
          </a:xfrm>
          <a:prstGeom prst="roundRect">
            <a:avLst/>
          </a:prstGeom>
          <a:ln>
            <a:solidFill>
              <a:srgbClr val="00B0F0"/>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b="1" dirty="0"/>
              <a:t>Data preprocessing</a:t>
            </a:r>
            <a:endParaRPr lang="en-IN" b="1" dirty="0"/>
          </a:p>
        </p:txBody>
      </p:sp>
      <p:sp>
        <p:nvSpPr>
          <p:cNvPr id="11" name="Rectangle: Rounded Corners 10"/>
          <p:cNvSpPr/>
          <p:nvPr/>
        </p:nvSpPr>
        <p:spPr>
          <a:xfrm>
            <a:off x="2818132" y="5534650"/>
            <a:ext cx="3352800" cy="533400"/>
          </a:xfrm>
          <a:prstGeom prst="roundRect">
            <a:avLst/>
          </a:prstGeom>
          <a:ln>
            <a:solidFill>
              <a:srgbClr val="00B0F0"/>
            </a:solidFill>
          </a:ln>
        </p:spPr>
        <p:style>
          <a:lnRef idx="1">
            <a:schemeClr val="dk1"/>
          </a:lnRef>
          <a:fillRef idx="2">
            <a:schemeClr val="dk1"/>
          </a:fillRef>
          <a:effectRef idx="1">
            <a:schemeClr val="dk1"/>
          </a:effectRef>
          <a:fontRef idx="minor">
            <a:schemeClr val="dk1"/>
          </a:fontRef>
        </p:style>
        <p:txBody>
          <a:bodyPr rtlCol="0" anchor="ctr"/>
          <a:lstStyle/>
          <a:p>
            <a:pPr algn="ctr"/>
            <a:r>
              <a:rPr lang="en-IN" b="1" dirty="0"/>
              <a:t>multiple linear regression model</a:t>
            </a:r>
            <a:endParaRPr lang="en-IN" b="1" dirty="0"/>
          </a:p>
        </p:txBody>
      </p:sp>
      <p:sp>
        <p:nvSpPr>
          <p:cNvPr id="12" name="Rectangle: Rounded Corners 11"/>
          <p:cNvSpPr/>
          <p:nvPr/>
        </p:nvSpPr>
        <p:spPr>
          <a:xfrm>
            <a:off x="179067" y="5337680"/>
            <a:ext cx="1912620" cy="904240"/>
          </a:xfrm>
          <a:prstGeom prst="roundRect">
            <a:avLst/>
          </a:prstGeom>
          <a:ln>
            <a:solidFill>
              <a:srgbClr val="00B0F0"/>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b="1" dirty="0"/>
              <a:t>Predictor Variable</a:t>
            </a:r>
            <a:endParaRPr lang="en-IN" b="1" dirty="0"/>
          </a:p>
        </p:txBody>
      </p:sp>
      <p:sp>
        <p:nvSpPr>
          <p:cNvPr id="13" name="Rectangle: Rounded Corners 12"/>
          <p:cNvSpPr/>
          <p:nvPr/>
        </p:nvSpPr>
        <p:spPr>
          <a:xfrm>
            <a:off x="7052313" y="5239844"/>
            <a:ext cx="2019300" cy="904240"/>
          </a:xfrm>
          <a:prstGeom prst="roundRect">
            <a:avLst/>
          </a:prstGeom>
          <a:ln>
            <a:solidFill>
              <a:srgbClr val="00B0F0"/>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b="1" dirty="0"/>
              <a:t>Output Predicted Variable</a:t>
            </a:r>
            <a:endParaRPr lang="en-IN" b="1" dirty="0"/>
          </a:p>
        </p:txBody>
      </p:sp>
      <p:sp>
        <p:nvSpPr>
          <p:cNvPr id="33" name="Arrow: Right 32"/>
          <p:cNvSpPr/>
          <p:nvPr/>
        </p:nvSpPr>
        <p:spPr>
          <a:xfrm rot="5400000">
            <a:off x="4219734" y="3939985"/>
            <a:ext cx="590232" cy="22860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34" name="Arrow: Down 33"/>
          <p:cNvSpPr/>
          <p:nvPr/>
        </p:nvSpPr>
        <p:spPr>
          <a:xfrm>
            <a:off x="4441190" y="2619555"/>
            <a:ext cx="187960" cy="575307"/>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35" name="Arrow: Down 34"/>
          <p:cNvSpPr/>
          <p:nvPr/>
        </p:nvSpPr>
        <p:spPr>
          <a:xfrm>
            <a:off x="4450842" y="1524333"/>
            <a:ext cx="178308" cy="565111"/>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36" name="Arrow: Down 35"/>
          <p:cNvSpPr/>
          <p:nvPr/>
        </p:nvSpPr>
        <p:spPr>
          <a:xfrm>
            <a:off x="4400550" y="4915950"/>
            <a:ext cx="228600" cy="607149"/>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37" name="Arrow: Right 36"/>
          <p:cNvSpPr/>
          <p:nvPr/>
        </p:nvSpPr>
        <p:spPr>
          <a:xfrm>
            <a:off x="2091687" y="5638800"/>
            <a:ext cx="767081" cy="22860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38" name="Arrow: Right 37"/>
          <p:cNvSpPr/>
          <p:nvPr/>
        </p:nvSpPr>
        <p:spPr>
          <a:xfrm>
            <a:off x="6170932" y="5638800"/>
            <a:ext cx="881381" cy="266843"/>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39" name="TextBox 38"/>
          <p:cNvSpPr txBox="1"/>
          <p:nvPr/>
        </p:nvSpPr>
        <p:spPr>
          <a:xfrm>
            <a:off x="2324100" y="313611"/>
            <a:ext cx="4495800" cy="461665"/>
          </a:xfrm>
          <a:prstGeom prst="rect">
            <a:avLst/>
          </a:prstGeom>
          <a:noFill/>
        </p:spPr>
        <p:txBody>
          <a:bodyPr wrap="square" rtlCol="0">
            <a:spAutoFit/>
          </a:bodyPr>
          <a:lstStyle/>
          <a:p>
            <a:pPr algn="ctr"/>
            <a:r>
              <a:rPr lang="en-US" sz="2400" b="1" dirty="0">
                <a:solidFill>
                  <a:schemeClr val="tx1">
                    <a:lumMod val="95000"/>
                    <a:lumOff val="5000"/>
                  </a:schemeClr>
                </a:solidFill>
                <a:latin typeface="Arial Black" panose="020B0A04020102020204" pitchFamily="34" charset="0"/>
              </a:rPr>
              <a:t>SYSTEM ARCHITECTURE</a:t>
            </a:r>
            <a:endParaRPr lang="en-IN" sz="2400" b="1" dirty="0">
              <a:solidFill>
                <a:schemeClr val="tx1">
                  <a:lumMod val="95000"/>
                  <a:lumOff val="5000"/>
                </a:schemeClr>
              </a:solidFill>
              <a:latin typeface="Arial Black" panose="020B0A040201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73405"/>
            <a:ext cx="8229600" cy="792163"/>
          </a:xfrm>
        </p:spPr>
        <p:txBody>
          <a:bodyPr>
            <a:normAutofit fontScale="90000"/>
          </a:bodyPr>
          <a:lstStyle/>
          <a:p>
            <a:pPr algn="l"/>
            <a:r>
              <a:rPr lang="en-US" dirty="0">
                <a:solidFill>
                  <a:srgbClr val="C00000"/>
                </a:solidFill>
              </a:rPr>
              <a:t>Modules</a:t>
            </a:r>
            <a:br>
              <a:rPr lang="en-US" dirty="0">
                <a:solidFill>
                  <a:srgbClr val="C00000"/>
                </a:solidFill>
              </a:rPr>
            </a:br>
            <a:endParaRPr lang="en-US" dirty="0">
              <a:solidFill>
                <a:srgbClr val="C00000"/>
              </a:solidFill>
            </a:endParaRPr>
          </a:p>
        </p:txBody>
      </p:sp>
      <p:sp>
        <p:nvSpPr>
          <p:cNvPr id="3" name="Content Placeholder 2"/>
          <p:cNvSpPr>
            <a:spLocks noGrp="1"/>
          </p:cNvSpPr>
          <p:nvPr>
            <p:ph idx="1"/>
          </p:nvPr>
        </p:nvSpPr>
        <p:spPr>
          <a:xfrm>
            <a:off x="457200" y="1616075"/>
            <a:ext cx="8229600" cy="4144963"/>
          </a:xfrm>
        </p:spPr>
        <p:txBody>
          <a:bodyPr>
            <a:normAutofit/>
          </a:bodyPr>
          <a:lstStyle/>
          <a:p>
            <a:pPr>
              <a:buFont typeface="Wingdings" panose="05000000000000000000" pitchFamily="2" charset="2"/>
              <a:buChar char="Ø"/>
            </a:pPr>
            <a:r>
              <a:rPr lang="en-US" sz="2400" dirty="0">
                <a:latin typeface="Arial" panose="020B0604020202020204" pitchFamily="34" charset="0"/>
                <a:cs typeface="Arial" panose="020B0604020202020204" pitchFamily="34" charset="0"/>
              </a:rPr>
              <a:t>System Requirements</a:t>
            </a:r>
            <a:endParaRPr lang="en-US" sz="2400" dirty="0">
              <a:latin typeface="Arial" panose="020B0604020202020204" pitchFamily="34" charset="0"/>
              <a:cs typeface="Arial" panose="020B0604020202020204" pitchFamily="34" charset="0"/>
            </a:endParaRPr>
          </a:p>
          <a:p>
            <a:pPr marL="0" indent="0">
              <a:buNone/>
            </a:pPr>
            <a:endParaRPr lang="en-US" sz="24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2400" dirty="0">
                <a:latin typeface="Arial" panose="020B0604020202020204" pitchFamily="34" charset="0"/>
                <a:cs typeface="Arial" panose="020B0604020202020204" pitchFamily="34" charset="0"/>
              </a:rPr>
              <a:t>Dataset Description</a:t>
            </a:r>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2400" dirty="0">
                <a:latin typeface="Arial" panose="020B0604020202020204" pitchFamily="34" charset="0"/>
                <a:cs typeface="Arial" panose="020B0604020202020204" pitchFamily="34" charset="0"/>
              </a:rPr>
              <a:t>Exploratory data analysis</a:t>
            </a:r>
            <a:endParaRPr lang="en-US" sz="2400" dirty="0">
              <a:latin typeface="Arial" panose="020B0604020202020204" pitchFamily="34" charset="0"/>
              <a:cs typeface="Arial" panose="020B0604020202020204" pitchFamily="34" charset="0"/>
            </a:endParaRPr>
          </a:p>
          <a:p>
            <a:pPr marL="0" indent="0">
              <a:buNone/>
            </a:pPr>
            <a:endParaRPr lang="en-US" sz="24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2400" dirty="0">
                <a:latin typeface="Arial" panose="020B0604020202020204" pitchFamily="34" charset="0"/>
                <a:cs typeface="Arial" panose="020B0604020202020204" pitchFamily="34" charset="0"/>
              </a:rPr>
              <a:t> Data preprocessing</a:t>
            </a:r>
            <a:endParaRPr lang="en-US" sz="2400" dirty="0">
              <a:latin typeface="Arial" panose="020B0604020202020204" pitchFamily="34" charset="0"/>
              <a:cs typeface="Arial" panose="020B0604020202020204" pitchFamily="34" charset="0"/>
            </a:endParaRPr>
          </a:p>
          <a:p>
            <a:pPr marL="0" indent="0">
              <a:buNone/>
            </a:pPr>
            <a:endParaRPr lang="en-US" sz="24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2400" dirty="0">
                <a:latin typeface="Arial" panose="020B0604020202020204" pitchFamily="34" charset="0"/>
                <a:cs typeface="Arial" panose="020B0604020202020204" pitchFamily="34" charset="0"/>
              </a:rPr>
              <a:t>Model Generation Using multiple linear regression</a:t>
            </a:r>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D5EFACEF-20B2-4FB6-8C2A-91106E3866EC}" type="datetime3">
              <a:rPr lang="en-US" smtClean="0"/>
            </a:fld>
            <a:endParaRPr lang="en-US"/>
          </a:p>
        </p:txBody>
      </p:sp>
      <p:sp>
        <p:nvSpPr>
          <p:cNvPr id="5" name="Footer Placeholder 4"/>
          <p:cNvSpPr>
            <a:spLocks noGrp="1"/>
          </p:cNvSpPr>
          <p:nvPr>
            <p:ph type="ftr" sz="quarter" idx="11"/>
          </p:nvPr>
        </p:nvSpPr>
        <p:spPr/>
        <p:txBody>
          <a:bodyPr/>
          <a:lstStyle/>
          <a:p>
            <a:r>
              <a:rPr lang="en-US"/>
              <a:t>Department of CSE</a:t>
            </a:r>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229600" cy="1143000"/>
          </a:xfrm>
        </p:spPr>
        <p:txBody>
          <a:bodyPr>
            <a:normAutofit fontScale="90000"/>
          </a:bodyPr>
          <a:lstStyle/>
          <a:p>
            <a:pPr algn="l"/>
            <a:r>
              <a:rPr lang="en-IN" dirty="0">
                <a:solidFill>
                  <a:srgbClr val="C00000"/>
                </a:solidFill>
              </a:rPr>
              <a:t>System Requirements</a:t>
            </a:r>
            <a:br>
              <a:rPr lang="en-IN" dirty="0">
                <a:solidFill>
                  <a:srgbClr val="C00000"/>
                </a:solidFill>
              </a:rPr>
            </a:br>
            <a:endParaRPr lang="en-IN" dirty="0">
              <a:solidFill>
                <a:srgbClr val="C00000"/>
              </a:solidFill>
            </a:endParaRPr>
          </a:p>
        </p:txBody>
      </p:sp>
      <p:sp>
        <p:nvSpPr>
          <p:cNvPr id="3" name="Content Placeholder 2"/>
          <p:cNvSpPr>
            <a:spLocks noGrp="1"/>
          </p:cNvSpPr>
          <p:nvPr>
            <p:ph idx="1"/>
          </p:nvPr>
        </p:nvSpPr>
        <p:spPr>
          <a:xfrm>
            <a:off x="457200" y="1600200"/>
            <a:ext cx="8229600" cy="4525963"/>
          </a:xfrm>
        </p:spPr>
        <p:txBody>
          <a:bodyPr/>
          <a:lstStyle/>
          <a:p>
            <a:pPr lvl="0"/>
            <a:endParaRPr lang="en-IN" sz="2200" dirty="0">
              <a:latin typeface="Arial" panose="020B0604020202020204" pitchFamily="34" charset="0"/>
              <a:cs typeface="Arial" panose="020B0604020202020204" pitchFamily="34" charset="0"/>
            </a:endParaRPr>
          </a:p>
          <a:p>
            <a:pPr lvl="0"/>
            <a:r>
              <a:rPr lang="en-IN" sz="2200" dirty="0">
                <a:latin typeface="Arial" panose="020B0604020202020204" pitchFamily="34" charset="0"/>
                <a:cs typeface="Arial" panose="020B0604020202020204" pitchFamily="34" charset="0"/>
              </a:rPr>
              <a:t>Operating System	:  Windows OS(10/8/7)</a:t>
            </a:r>
            <a:endParaRPr lang="en-IN" sz="2200" dirty="0">
              <a:latin typeface="Arial" panose="020B0604020202020204" pitchFamily="34" charset="0"/>
              <a:cs typeface="Arial" panose="020B0604020202020204" pitchFamily="34" charset="0"/>
            </a:endParaRPr>
          </a:p>
          <a:p>
            <a:pPr lvl="0"/>
            <a:r>
              <a:rPr lang="en-IN" sz="2200" dirty="0">
                <a:latin typeface="Arial" panose="020B0604020202020204" pitchFamily="34" charset="0"/>
                <a:cs typeface="Arial" panose="020B0604020202020204" pitchFamily="34" charset="0"/>
              </a:rPr>
              <a:t>Processor		:  i3 or more</a:t>
            </a:r>
            <a:endParaRPr lang="en-IN" sz="2200" dirty="0">
              <a:latin typeface="Arial" panose="020B0604020202020204" pitchFamily="34" charset="0"/>
              <a:cs typeface="Arial" panose="020B0604020202020204" pitchFamily="34" charset="0"/>
            </a:endParaRPr>
          </a:p>
          <a:p>
            <a:pPr lvl="0"/>
            <a:r>
              <a:rPr lang="en-IN" sz="2200" dirty="0">
                <a:latin typeface="Arial" panose="020B0604020202020204" pitchFamily="34" charset="0"/>
                <a:cs typeface="Arial" panose="020B0604020202020204" pitchFamily="34" charset="0"/>
              </a:rPr>
              <a:t>Coding Language	:  Python</a:t>
            </a:r>
            <a:endParaRPr lang="en-IN" sz="2200" dirty="0">
              <a:latin typeface="Arial" panose="020B0604020202020204" pitchFamily="34" charset="0"/>
              <a:cs typeface="Arial" panose="020B0604020202020204" pitchFamily="34" charset="0"/>
            </a:endParaRPr>
          </a:p>
          <a:p>
            <a:pPr lvl="0"/>
            <a:r>
              <a:rPr lang="en-IN" sz="2200" dirty="0">
                <a:latin typeface="Arial" panose="020B0604020202020204" pitchFamily="34" charset="0"/>
                <a:cs typeface="Arial" panose="020B0604020202020204" pitchFamily="34" charset="0"/>
              </a:rPr>
              <a:t>Tool			:  </a:t>
            </a:r>
            <a:r>
              <a:rPr lang="en-IN" sz="2200" dirty="0" err="1">
                <a:latin typeface="Arial" panose="020B0604020202020204" pitchFamily="34" charset="0"/>
                <a:cs typeface="Arial" panose="020B0604020202020204" pitchFamily="34" charset="0"/>
              </a:rPr>
              <a:t>Jupyter</a:t>
            </a:r>
            <a:r>
              <a:rPr lang="en-IN" sz="2200" dirty="0">
                <a:latin typeface="Arial" panose="020B0604020202020204" pitchFamily="34" charset="0"/>
                <a:cs typeface="Arial" panose="020B0604020202020204" pitchFamily="34" charset="0"/>
              </a:rPr>
              <a:t> Notebook</a:t>
            </a:r>
            <a:endParaRPr lang="en-IN" sz="2200" dirty="0">
              <a:latin typeface="Arial" panose="020B0604020202020204" pitchFamily="34" charset="0"/>
              <a:cs typeface="Arial" panose="020B0604020202020204" pitchFamily="34" charset="0"/>
            </a:endParaRPr>
          </a:p>
          <a:p>
            <a:pPr lvl="0"/>
            <a:r>
              <a:rPr lang="en-IN" sz="2200" dirty="0">
                <a:latin typeface="Arial" panose="020B0604020202020204" pitchFamily="34" charset="0"/>
                <a:cs typeface="Arial" panose="020B0604020202020204" pitchFamily="34" charset="0"/>
              </a:rPr>
              <a:t>Libraries		:  pandas, </a:t>
            </a:r>
            <a:r>
              <a:rPr lang="en-IN" sz="2200" dirty="0" err="1">
                <a:latin typeface="Arial" panose="020B0604020202020204" pitchFamily="34" charset="0"/>
                <a:cs typeface="Arial" panose="020B0604020202020204" pitchFamily="34" charset="0"/>
              </a:rPr>
              <a:t>matplotlib</a:t>
            </a:r>
            <a:r>
              <a:rPr lang="en-IN" sz="2200" dirty="0">
                <a:latin typeface="Arial" panose="020B0604020202020204" pitchFamily="34" charset="0"/>
                <a:cs typeface="Arial" panose="020B0604020202020204" pitchFamily="34" charset="0"/>
              </a:rPr>
              <a:t>, </a:t>
            </a:r>
            <a:r>
              <a:rPr lang="en-IN" sz="2200" dirty="0" err="1">
                <a:latin typeface="Arial" panose="020B0604020202020204" pitchFamily="34" charset="0"/>
                <a:cs typeface="Arial" panose="020B0604020202020204" pitchFamily="34" charset="0"/>
              </a:rPr>
              <a:t>sklearn</a:t>
            </a:r>
            <a:r>
              <a:rPr lang="en-IN" sz="2200" dirty="0">
                <a:latin typeface="Arial" panose="020B0604020202020204" pitchFamily="34" charset="0"/>
                <a:cs typeface="Arial" panose="020B0604020202020204" pitchFamily="34" charset="0"/>
              </a:rPr>
              <a:t>, </a:t>
            </a:r>
            <a:r>
              <a:rPr lang="en-IN" sz="2200" dirty="0" err="1">
                <a:latin typeface="Arial" panose="020B0604020202020204" pitchFamily="34" charset="0"/>
                <a:cs typeface="Arial" panose="020B0604020202020204" pitchFamily="34" charset="0"/>
              </a:rPr>
              <a:t>numpy</a:t>
            </a:r>
            <a:r>
              <a:rPr lang="en-IN" sz="2200" dirty="0">
                <a:latin typeface="Arial" panose="020B0604020202020204" pitchFamily="34" charset="0"/>
                <a:cs typeface="Arial" panose="020B0604020202020204" pitchFamily="34" charset="0"/>
              </a:rPr>
              <a:t>, </a:t>
            </a:r>
            <a:r>
              <a:rPr lang="en-IN" sz="2200" dirty="0" err="1">
                <a:latin typeface="Arial" panose="020B0604020202020204" pitchFamily="34" charset="0"/>
                <a:cs typeface="Arial" panose="020B0604020202020204" pitchFamily="34" charset="0"/>
              </a:rPr>
              <a:t>seaborn</a:t>
            </a:r>
            <a:endParaRPr lang="en-IN" sz="2200" dirty="0">
              <a:latin typeface="Arial" panose="020B0604020202020204" pitchFamily="34" charset="0"/>
              <a:cs typeface="Arial" panose="020B0604020202020204" pitchFamily="34" charset="0"/>
            </a:endParaRPr>
          </a:p>
          <a:p>
            <a:endParaRPr lang="en-IN" dirty="0"/>
          </a:p>
        </p:txBody>
      </p:sp>
      <p:sp>
        <p:nvSpPr>
          <p:cNvPr id="4" name="Date Placeholder 3"/>
          <p:cNvSpPr>
            <a:spLocks noGrp="1"/>
          </p:cNvSpPr>
          <p:nvPr>
            <p:ph type="dt" sz="half" idx="10"/>
          </p:nvPr>
        </p:nvSpPr>
        <p:spPr/>
        <p:txBody>
          <a:bodyPr/>
          <a:lstStyle/>
          <a:p>
            <a:fld id="{D5EFACEF-20B2-4FB6-8C2A-91106E3866EC}" type="datetime3">
              <a:rPr lang="en-US" smtClean="0"/>
            </a:fld>
            <a:endParaRPr lang="en-US"/>
          </a:p>
        </p:txBody>
      </p:sp>
      <p:sp>
        <p:nvSpPr>
          <p:cNvPr id="5" name="Footer Placeholder 4"/>
          <p:cNvSpPr>
            <a:spLocks noGrp="1"/>
          </p:cNvSpPr>
          <p:nvPr>
            <p:ph type="ftr" sz="quarter" idx="11"/>
          </p:nvPr>
        </p:nvSpPr>
        <p:spPr/>
        <p:txBody>
          <a:bodyPr/>
          <a:lstStyle/>
          <a:p>
            <a:r>
              <a:rPr lang="en-US"/>
              <a:t>Department of CSE</a:t>
            </a:r>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dirty="0">
                <a:solidFill>
                  <a:srgbClr val="C00000"/>
                </a:solidFill>
              </a:rPr>
              <a:t>Dataset Description</a:t>
            </a:r>
            <a:endParaRPr lang="en-IN" dirty="0">
              <a:solidFill>
                <a:srgbClr val="C00000"/>
              </a:solidFill>
            </a:endParaRPr>
          </a:p>
        </p:txBody>
      </p:sp>
      <p:sp>
        <p:nvSpPr>
          <p:cNvPr id="3" name="Content Placeholder 2"/>
          <p:cNvSpPr>
            <a:spLocks noGrp="1"/>
          </p:cNvSpPr>
          <p:nvPr>
            <p:ph idx="1"/>
          </p:nvPr>
        </p:nvSpPr>
        <p:spPr>
          <a:xfrm>
            <a:off x="457200" y="1366520"/>
            <a:ext cx="8229600" cy="4989830"/>
          </a:xfrm>
        </p:spPr>
        <p:txBody>
          <a:bodyPr>
            <a:normAutofit fontScale="25000" lnSpcReduction="20000"/>
          </a:bodyPr>
          <a:lstStyle/>
          <a:p>
            <a:r>
              <a:rPr lang="en-US" sz="10000" dirty="0">
                <a:solidFill>
                  <a:schemeClr val="tx1">
                    <a:lumMod val="95000"/>
                    <a:lumOff val="5000"/>
                  </a:schemeClr>
                </a:solidFill>
              </a:rPr>
              <a:t>In this project we will be using the Concrete Compressive Strength data set.</a:t>
            </a:r>
            <a:endParaRPr lang="en-US" sz="10000" dirty="0">
              <a:solidFill>
                <a:schemeClr val="tx1">
                  <a:lumMod val="95000"/>
                  <a:lumOff val="5000"/>
                </a:schemeClr>
              </a:solidFill>
            </a:endParaRPr>
          </a:p>
          <a:p>
            <a:endParaRPr lang="en-US" sz="10000" dirty="0"/>
          </a:p>
          <a:p>
            <a:r>
              <a:rPr lang="en-US" sz="10000" dirty="0"/>
              <a:t>The dataset consists of 1030 instances with 9 attributes and has no missing values. </a:t>
            </a:r>
            <a:endParaRPr lang="en-US" sz="10000" dirty="0"/>
          </a:p>
          <a:p>
            <a:endParaRPr lang="en-US" sz="10000" dirty="0"/>
          </a:p>
          <a:p>
            <a:r>
              <a:rPr lang="en-US" sz="10000" dirty="0"/>
              <a:t>There are 8 input variables and 1 output variable.</a:t>
            </a:r>
            <a:endParaRPr lang="en-US" sz="10000" dirty="0"/>
          </a:p>
          <a:p>
            <a:endParaRPr lang="en-US" sz="10000" dirty="0"/>
          </a:p>
          <a:p>
            <a:r>
              <a:rPr lang="en-US" sz="10000" dirty="0"/>
              <a:t>Seven input variables represent the amount of raw material (measured in kg/m³) and one represents Age (in Days). </a:t>
            </a:r>
            <a:endParaRPr lang="en-US" sz="10000" dirty="0"/>
          </a:p>
          <a:p>
            <a:endParaRPr lang="en-US" sz="10000" dirty="0"/>
          </a:p>
          <a:p>
            <a:r>
              <a:rPr lang="en-US" sz="10000" dirty="0"/>
              <a:t>The target variable is Concrete Compressive Strength measured in (MPa — Mega Pascal).</a:t>
            </a:r>
            <a:endParaRPr lang="en-US" sz="10000" dirty="0"/>
          </a:p>
          <a:p>
            <a:pPr marL="0" indent="0">
              <a:buNone/>
            </a:pPr>
            <a:r>
              <a:rPr lang="en-US" sz="10400" dirty="0"/>
              <a:t> </a:t>
            </a:r>
            <a:endParaRPr lang="en-US" sz="10400" dirty="0"/>
          </a:p>
          <a:p>
            <a:endParaRPr lang="en-IN" dirty="0"/>
          </a:p>
        </p:txBody>
      </p:sp>
      <p:sp>
        <p:nvSpPr>
          <p:cNvPr id="4" name="Date Placeholder 3"/>
          <p:cNvSpPr>
            <a:spLocks noGrp="1"/>
          </p:cNvSpPr>
          <p:nvPr>
            <p:ph type="dt" sz="half" idx="10"/>
          </p:nvPr>
        </p:nvSpPr>
        <p:spPr/>
        <p:txBody>
          <a:bodyPr/>
          <a:lstStyle/>
          <a:p>
            <a:fld id="{D5EFACEF-20B2-4FB6-8C2A-91106E3866EC}" type="datetime3">
              <a:rPr lang="en-US" smtClean="0"/>
            </a:fld>
            <a:endParaRPr lang="en-US"/>
          </a:p>
        </p:txBody>
      </p:sp>
      <p:sp>
        <p:nvSpPr>
          <p:cNvPr id="5" name="Footer Placeholder 4"/>
          <p:cNvSpPr>
            <a:spLocks noGrp="1"/>
          </p:cNvSpPr>
          <p:nvPr>
            <p:ph type="ftr" sz="quarter" idx="11"/>
          </p:nvPr>
        </p:nvSpPr>
        <p:spPr/>
        <p:txBody>
          <a:bodyPr/>
          <a:lstStyle/>
          <a:p>
            <a:r>
              <a:rPr lang="en-US"/>
              <a:t>Department of CSE</a:t>
            </a:r>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rgbClr val="C00000"/>
                </a:solidFill>
              </a:rPr>
              <a:t>Exploratory Data Analysis</a:t>
            </a:r>
            <a:endParaRPr lang="en-US" dirty="0"/>
          </a:p>
        </p:txBody>
      </p:sp>
      <p:sp>
        <p:nvSpPr>
          <p:cNvPr id="3" name="Content Placeholder 2"/>
          <p:cNvSpPr>
            <a:spLocks noGrp="1"/>
          </p:cNvSpPr>
          <p:nvPr>
            <p:ph idx="1"/>
          </p:nvPr>
        </p:nvSpPr>
        <p:spPr/>
        <p:txBody>
          <a:bodyPr/>
          <a:lstStyle/>
          <a:p>
            <a:r>
              <a:rPr lang="en-US" dirty="0"/>
              <a:t>The first step in a Data Science project is to understand the data and gain insights from the data before doing any </a:t>
            </a:r>
            <a:r>
              <a:rPr lang="en-US" dirty="0" err="1"/>
              <a:t>modelling</a:t>
            </a:r>
            <a:r>
              <a:rPr lang="en-US" dirty="0"/>
              <a:t>. </a:t>
            </a:r>
            <a:endParaRPr lang="en-US" dirty="0"/>
          </a:p>
          <a:p>
            <a:r>
              <a:rPr lang="en-US" dirty="0"/>
              <a:t>This includes checking for any missing values, plotting the features with respect to the target variable, observing the distributions of all the features and so on.</a:t>
            </a:r>
            <a:endParaRPr lang="en-US" dirty="0"/>
          </a:p>
        </p:txBody>
      </p:sp>
      <p:sp>
        <p:nvSpPr>
          <p:cNvPr id="4" name="Date Placeholder 3"/>
          <p:cNvSpPr>
            <a:spLocks noGrp="1"/>
          </p:cNvSpPr>
          <p:nvPr>
            <p:ph type="dt" sz="half" idx="10"/>
          </p:nvPr>
        </p:nvSpPr>
        <p:spPr/>
        <p:txBody>
          <a:bodyPr/>
          <a:lstStyle/>
          <a:p>
            <a:fld id="{D5EFACEF-20B2-4FB6-8C2A-91106E3866EC}" type="datetime3">
              <a:rPr lang="en-US" smtClean="0"/>
            </a:fld>
            <a:endParaRPr lang="en-US"/>
          </a:p>
        </p:txBody>
      </p:sp>
      <p:sp>
        <p:nvSpPr>
          <p:cNvPr id="5" name="Footer Placeholder 4"/>
          <p:cNvSpPr>
            <a:spLocks noGrp="1"/>
          </p:cNvSpPr>
          <p:nvPr>
            <p:ph type="ftr" sz="quarter" idx="11"/>
          </p:nvPr>
        </p:nvSpPr>
        <p:spPr/>
        <p:txBody>
          <a:bodyPr/>
          <a:lstStyle/>
          <a:p>
            <a:r>
              <a:rPr lang="en-US"/>
              <a:t>Department of CSE</a:t>
            </a:r>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rgbClr val="C00000"/>
                </a:solidFill>
              </a:rPr>
              <a:t>Exploratory Data Analysis</a:t>
            </a:r>
            <a:endParaRPr lang="en-US" dirty="0">
              <a:solidFill>
                <a:srgbClr val="C00000"/>
              </a:solidFill>
            </a:endParaRPr>
          </a:p>
        </p:txBody>
      </p:sp>
      <p:sp>
        <p:nvSpPr>
          <p:cNvPr id="3" name="Content Placeholder 2"/>
          <p:cNvSpPr>
            <a:spLocks noGrp="1"/>
          </p:cNvSpPr>
          <p:nvPr>
            <p:ph idx="1"/>
          </p:nvPr>
        </p:nvSpPr>
        <p:spPr/>
        <p:txBody>
          <a:bodyPr/>
          <a:lstStyle/>
          <a:p>
            <a:r>
              <a:rPr lang="en-US" dirty="0"/>
              <a:t>EDA is an important step to build any machine learning project, it is an approach of analyzing datasets to summarize their main characteristics. </a:t>
            </a:r>
            <a:endParaRPr lang="en-US" dirty="0"/>
          </a:p>
          <a:p>
            <a:r>
              <a:rPr lang="en-US" dirty="0"/>
              <a:t>With the help of EDA, we can able to take knowledge of features by just observing the plots and graphs.</a:t>
            </a:r>
            <a:endParaRPr lang="en-US" dirty="0"/>
          </a:p>
        </p:txBody>
      </p:sp>
      <p:sp>
        <p:nvSpPr>
          <p:cNvPr id="4" name="Date Placeholder 3"/>
          <p:cNvSpPr>
            <a:spLocks noGrp="1"/>
          </p:cNvSpPr>
          <p:nvPr>
            <p:ph type="dt" sz="half" idx="10"/>
          </p:nvPr>
        </p:nvSpPr>
        <p:spPr/>
        <p:txBody>
          <a:bodyPr/>
          <a:lstStyle/>
          <a:p>
            <a:fld id="{D5EFACEF-20B2-4FB6-8C2A-91106E3866EC}" type="datetime3">
              <a:rPr lang="en-US" smtClean="0"/>
            </a:fld>
            <a:endParaRPr lang="en-US"/>
          </a:p>
        </p:txBody>
      </p:sp>
      <p:sp>
        <p:nvSpPr>
          <p:cNvPr id="5" name="Footer Placeholder 4"/>
          <p:cNvSpPr>
            <a:spLocks noGrp="1"/>
          </p:cNvSpPr>
          <p:nvPr>
            <p:ph type="ftr" sz="quarter" idx="11"/>
          </p:nvPr>
        </p:nvSpPr>
        <p:spPr/>
        <p:txBody>
          <a:bodyPr/>
          <a:lstStyle/>
          <a:p>
            <a:r>
              <a:rPr lang="en-US"/>
              <a:t>Department of CSE</a:t>
            </a:r>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rgbClr val="C00000"/>
                </a:solidFill>
              </a:rPr>
              <a:t>Data Pre-processing</a:t>
            </a:r>
            <a:endParaRPr lang="en-US" dirty="0">
              <a:solidFill>
                <a:srgbClr val="C00000"/>
              </a:solidFill>
            </a:endParaRPr>
          </a:p>
        </p:txBody>
      </p:sp>
      <p:sp>
        <p:nvSpPr>
          <p:cNvPr id="3" name="Content Placeholder 2"/>
          <p:cNvSpPr>
            <a:spLocks noGrp="1"/>
          </p:cNvSpPr>
          <p:nvPr>
            <p:ph idx="1"/>
          </p:nvPr>
        </p:nvSpPr>
        <p:spPr/>
        <p:txBody>
          <a:bodyPr/>
          <a:lstStyle/>
          <a:p>
            <a:r>
              <a:rPr lang="en-US" sz="2400" i="1" u="sng" dirty="0"/>
              <a:t> Study Dataset</a:t>
            </a:r>
            <a:br>
              <a:rPr lang="en-US" dirty="0"/>
            </a:br>
            <a:endParaRPr lang="en-US" dirty="0"/>
          </a:p>
          <a:p>
            <a:endParaRPr lang="en-US" dirty="0"/>
          </a:p>
          <a:p>
            <a:endParaRPr lang="en-US" dirty="0"/>
          </a:p>
          <a:p>
            <a:endParaRPr lang="en-US" dirty="0"/>
          </a:p>
          <a:p>
            <a:endParaRPr lang="en-US" dirty="0"/>
          </a:p>
          <a:p>
            <a:endParaRPr lang="en-US" dirty="0"/>
          </a:p>
          <a:p>
            <a:pPr marL="0" indent="0">
              <a:buNone/>
            </a:pPr>
            <a:r>
              <a:rPr lang="en-US" sz="2000" dirty="0"/>
              <a:t>                                              </a:t>
            </a:r>
            <a:r>
              <a:rPr lang="en-US" sz="2000" dirty="0" err="1"/>
              <a:t>Dist</a:t>
            </a:r>
            <a:r>
              <a:rPr lang="en-US" sz="2000" dirty="0"/>
              <a:t> plot for compressive strength</a:t>
            </a:r>
            <a:endParaRPr lang="en-US" sz="2000" dirty="0"/>
          </a:p>
        </p:txBody>
      </p:sp>
      <p:sp>
        <p:nvSpPr>
          <p:cNvPr id="4" name="Date Placeholder 3"/>
          <p:cNvSpPr>
            <a:spLocks noGrp="1"/>
          </p:cNvSpPr>
          <p:nvPr>
            <p:ph type="dt" sz="half" idx="10"/>
          </p:nvPr>
        </p:nvSpPr>
        <p:spPr/>
        <p:txBody>
          <a:bodyPr/>
          <a:lstStyle/>
          <a:p>
            <a:fld id="{D5EFACEF-20B2-4FB6-8C2A-91106E3866EC}" type="datetime3">
              <a:rPr lang="en-US" smtClean="0"/>
            </a:fld>
            <a:endParaRPr lang="en-US"/>
          </a:p>
        </p:txBody>
      </p:sp>
      <p:sp>
        <p:nvSpPr>
          <p:cNvPr id="5" name="Footer Placeholder 4"/>
          <p:cNvSpPr>
            <a:spLocks noGrp="1"/>
          </p:cNvSpPr>
          <p:nvPr>
            <p:ph type="ftr" sz="quarter" idx="11"/>
          </p:nvPr>
        </p:nvSpPr>
        <p:spPr/>
        <p:txBody>
          <a:bodyPr/>
          <a:lstStyle/>
          <a:p>
            <a:r>
              <a:rPr lang="en-US"/>
              <a:t>Department of CSE</a:t>
            </a:r>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pic>
        <p:nvPicPr>
          <p:cNvPr id="7" name="Picture 6" descr="Capture.PNG"/>
          <p:cNvPicPr>
            <a:picLocks noChangeAspect="1"/>
          </p:cNvPicPr>
          <p:nvPr/>
        </p:nvPicPr>
        <p:blipFill rotWithShape="1">
          <a:blip r:embed="rId1"/>
          <a:srcRect b="18367"/>
          <a:stretch>
            <a:fillRect/>
          </a:stretch>
        </p:blipFill>
        <p:spPr>
          <a:xfrm>
            <a:off x="2286000" y="2438400"/>
            <a:ext cx="4800600" cy="304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rgbClr val="C00000"/>
                </a:solidFill>
              </a:rPr>
              <a:t>Data Pre-processing</a:t>
            </a:r>
            <a:endParaRPr lang="en-US" dirty="0"/>
          </a:p>
        </p:txBody>
      </p:sp>
      <p:sp>
        <p:nvSpPr>
          <p:cNvPr id="3" name="Content Placeholder 2"/>
          <p:cNvSpPr>
            <a:spLocks noGrp="1"/>
          </p:cNvSpPr>
          <p:nvPr>
            <p:ph idx="1"/>
          </p:nvPr>
        </p:nvSpPr>
        <p:spPr>
          <a:xfrm>
            <a:off x="457200" y="1295400"/>
            <a:ext cx="8229600" cy="5060950"/>
          </a:xfrm>
        </p:spPr>
        <p:txBody>
          <a:bodyPr>
            <a:noAutofit/>
          </a:bodyPr>
          <a:lstStyle/>
          <a:p>
            <a:r>
              <a:rPr lang="en-US" sz="2000" i="1" u="sng" dirty="0"/>
              <a:t>Dividing Dependent and Independent Variables</a:t>
            </a:r>
            <a:endParaRPr lang="en-US" sz="2000" b="1" u="sng" dirty="0"/>
          </a:p>
          <a:p>
            <a:pPr>
              <a:buNone/>
            </a:pPr>
            <a:r>
              <a:rPr lang="en-US" sz="2000" dirty="0">
                <a:cs typeface="Arial" panose="020B0604020202020204" pitchFamily="34" charset="0"/>
              </a:rPr>
              <a:t>      Before starting model building we have to divide the dataset into two parts</a:t>
            </a:r>
            <a:endParaRPr lang="en-US" sz="2000" dirty="0">
              <a:cs typeface="Arial" panose="020B0604020202020204" pitchFamily="34" charset="0"/>
            </a:endParaRPr>
          </a:p>
          <a:p>
            <a:pPr marL="0" indent="0" fontAlgn="base">
              <a:buNone/>
            </a:pPr>
            <a:r>
              <a:rPr lang="en-US" sz="2000" dirty="0" err="1">
                <a:cs typeface="Arial" panose="020B0604020202020204" pitchFamily="34" charset="0"/>
              </a:rPr>
              <a:t>i</a:t>
            </a:r>
            <a:r>
              <a:rPr lang="en-US" sz="2000" dirty="0">
                <a:cs typeface="Arial" panose="020B0604020202020204" pitchFamily="34" charset="0"/>
              </a:rPr>
              <a:t>            Independent variables contain a list of those variables in which concrete quality is dependent.</a:t>
            </a:r>
            <a:endParaRPr lang="en-US" sz="2000" dirty="0">
              <a:cs typeface="Arial" panose="020B0604020202020204" pitchFamily="34" charset="0"/>
            </a:endParaRPr>
          </a:p>
          <a:p>
            <a:pPr marL="0" indent="0" fontAlgn="base">
              <a:buNone/>
            </a:pPr>
            <a:r>
              <a:rPr lang="en-US" sz="2000" dirty="0" err="1">
                <a:cs typeface="Arial" panose="020B0604020202020204" pitchFamily="34" charset="0"/>
              </a:rPr>
              <a:t>Ii</a:t>
            </a:r>
            <a:r>
              <a:rPr lang="en-US" sz="2000" dirty="0">
                <a:cs typeface="Arial" panose="020B0604020202020204" pitchFamily="34" charset="0"/>
              </a:rPr>
              <a:t>          The dependent variable is that variable that is dependent on other variables’ values.</a:t>
            </a:r>
            <a:endParaRPr lang="en-US" sz="2000" dirty="0">
              <a:cs typeface="Arial" panose="020B0604020202020204" pitchFamily="34" charset="0"/>
            </a:endParaRPr>
          </a:p>
          <a:p>
            <a:pPr marL="0" indent="0">
              <a:buNone/>
            </a:pPr>
            <a:r>
              <a:rPr lang="en-US" sz="2000" dirty="0"/>
              <a:t>                    </a:t>
            </a:r>
            <a:endParaRPr lang="en-US" sz="2000" dirty="0"/>
          </a:p>
          <a:p>
            <a:pPr marL="0" indent="0">
              <a:buNone/>
            </a:pPr>
            <a:r>
              <a:rPr lang="en-US" sz="2000" dirty="0"/>
              <a:t>        In this program, x contains the list of independent variables, and y                  contains the dependent variable in this case</a:t>
            </a:r>
            <a:endParaRPr lang="en-US" sz="2000" dirty="0"/>
          </a:p>
          <a:p>
            <a:pPr marL="0" indent="0">
              <a:buNone/>
            </a:pPr>
            <a:r>
              <a:rPr lang="en-US" sz="2000" dirty="0" err="1"/>
              <a:t>i</a:t>
            </a:r>
            <a:r>
              <a:rPr lang="en-US" sz="2000" dirty="0"/>
              <a:t>.          Independent variables are cement, fly ash, water, Superplasticizer, coarse aggregate, fine aggregate, age.</a:t>
            </a:r>
            <a:endParaRPr lang="en-US" sz="2000" dirty="0"/>
          </a:p>
          <a:p>
            <a:pPr marL="0" indent="0">
              <a:buNone/>
            </a:pPr>
            <a:r>
              <a:rPr lang="en-US" sz="2000" dirty="0"/>
              <a:t>ii.         dependent variable is the only </a:t>
            </a:r>
            <a:r>
              <a:rPr lang="en-US" sz="2000" dirty="0" err="1"/>
              <a:t>csMPa</a:t>
            </a:r>
            <a:endParaRPr lang="en-US" sz="2000" dirty="0"/>
          </a:p>
        </p:txBody>
      </p:sp>
      <p:sp>
        <p:nvSpPr>
          <p:cNvPr id="4" name="Date Placeholder 3"/>
          <p:cNvSpPr>
            <a:spLocks noGrp="1"/>
          </p:cNvSpPr>
          <p:nvPr>
            <p:ph type="dt" sz="half" idx="10"/>
          </p:nvPr>
        </p:nvSpPr>
        <p:spPr/>
        <p:txBody>
          <a:bodyPr/>
          <a:lstStyle/>
          <a:p>
            <a:fld id="{D5EFACEF-20B2-4FB6-8C2A-91106E3866EC}" type="datetime3">
              <a:rPr lang="en-US" smtClean="0"/>
            </a:fld>
            <a:endParaRPr lang="en-US"/>
          </a:p>
        </p:txBody>
      </p:sp>
      <p:sp>
        <p:nvSpPr>
          <p:cNvPr id="5" name="Footer Placeholder 4"/>
          <p:cNvSpPr>
            <a:spLocks noGrp="1"/>
          </p:cNvSpPr>
          <p:nvPr>
            <p:ph type="ftr" sz="quarter" idx="11"/>
          </p:nvPr>
        </p:nvSpPr>
        <p:spPr/>
        <p:txBody>
          <a:bodyPr/>
          <a:lstStyle/>
          <a:p>
            <a:r>
              <a:rPr lang="en-US"/>
              <a:t>Department of CSE</a:t>
            </a:r>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rgbClr val="C00000"/>
                </a:solidFill>
              </a:rPr>
              <a:t>Data Pre-processing</a:t>
            </a:r>
            <a:endParaRPr lang="en-US" dirty="0"/>
          </a:p>
        </p:txBody>
      </p:sp>
      <p:sp>
        <p:nvSpPr>
          <p:cNvPr id="3" name="Content Placeholder 2"/>
          <p:cNvSpPr>
            <a:spLocks noGrp="1"/>
          </p:cNvSpPr>
          <p:nvPr>
            <p:ph idx="1"/>
          </p:nvPr>
        </p:nvSpPr>
        <p:spPr/>
        <p:txBody>
          <a:bodyPr>
            <a:normAutofit fontScale="47500" lnSpcReduction="20000"/>
          </a:bodyPr>
          <a:lstStyle/>
          <a:p>
            <a:endParaRPr lang="en-US" sz="5900" i="1" u="sng" dirty="0"/>
          </a:p>
          <a:p>
            <a:r>
              <a:rPr lang="en-US" sz="5900" i="1" u="sng" dirty="0"/>
              <a:t>Splitting the data</a:t>
            </a:r>
            <a:endParaRPr lang="en-US" sz="5900" b="1" u="sng" dirty="0"/>
          </a:p>
          <a:p>
            <a:pPr marL="514350" indent="-514350">
              <a:buNone/>
            </a:pPr>
            <a:r>
              <a:rPr lang="en-US" sz="2400" dirty="0">
                <a:latin typeface="Arial" panose="020B0604020202020204" pitchFamily="34" charset="0"/>
                <a:cs typeface="Arial" panose="020B0604020202020204" pitchFamily="34" charset="0"/>
              </a:rPr>
              <a:t>               </a:t>
            </a:r>
            <a:endParaRPr lang="en-US" sz="2400" dirty="0">
              <a:latin typeface="Arial" panose="020B0604020202020204" pitchFamily="34" charset="0"/>
              <a:cs typeface="Arial" panose="020B0604020202020204" pitchFamily="34" charset="0"/>
            </a:endParaRPr>
          </a:p>
          <a:p>
            <a:pPr marL="514350" indent="-514350">
              <a:buNone/>
            </a:pPr>
            <a:r>
              <a:rPr lang="en-US" sz="5000" dirty="0">
                <a:latin typeface="Arial" panose="020B0604020202020204" pitchFamily="34" charset="0"/>
                <a:cs typeface="Arial" panose="020B0604020202020204" pitchFamily="34" charset="0"/>
              </a:rPr>
              <a:t>          Now we use the </a:t>
            </a:r>
            <a:r>
              <a:rPr lang="en-US" sz="5000" dirty="0" err="1">
                <a:latin typeface="Arial" panose="020B0604020202020204" pitchFamily="34" charset="0"/>
                <a:cs typeface="Arial" panose="020B0604020202020204" pitchFamily="34" charset="0"/>
              </a:rPr>
              <a:t>scikit</a:t>
            </a:r>
            <a:r>
              <a:rPr lang="en-US" sz="5000" dirty="0">
                <a:latin typeface="Arial" panose="020B0604020202020204" pitchFamily="34" charset="0"/>
                <a:cs typeface="Arial" panose="020B0604020202020204" pitchFamily="34" charset="0"/>
              </a:rPr>
              <a:t>-learn module </a:t>
            </a:r>
            <a:r>
              <a:rPr lang="en-US" sz="5000" dirty="0" err="1">
                <a:latin typeface="Arial" panose="020B0604020202020204" pitchFamily="34" charset="0"/>
                <a:cs typeface="Arial" panose="020B0604020202020204" pitchFamily="34" charset="0"/>
              </a:rPr>
              <a:t>train_test_split</a:t>
            </a:r>
            <a:r>
              <a:rPr lang="en-US" sz="5000" dirty="0">
                <a:latin typeface="Arial" panose="020B0604020202020204" pitchFamily="34" charset="0"/>
                <a:cs typeface="Arial" panose="020B0604020202020204" pitchFamily="34" charset="0"/>
              </a:rPr>
              <a:t>, which is used for splitting the training and testing parts.</a:t>
            </a:r>
            <a:endParaRPr lang="en-US" sz="5000" dirty="0">
              <a:latin typeface="Arial" panose="020B0604020202020204" pitchFamily="34" charset="0"/>
              <a:cs typeface="Arial" panose="020B0604020202020204" pitchFamily="34" charset="0"/>
            </a:endParaRPr>
          </a:p>
          <a:p>
            <a:pPr>
              <a:buNone/>
            </a:pPr>
            <a:endParaRPr lang="en-US" sz="2400" dirty="0"/>
          </a:p>
          <a:p>
            <a:r>
              <a:rPr lang="en-US" sz="5900" i="1" u="sng" dirty="0">
                <a:cs typeface="Arial" panose="020B0604020202020204" pitchFamily="34" charset="0"/>
              </a:rPr>
              <a:t>Handling Null values</a:t>
            </a:r>
            <a:endParaRPr lang="en-US" sz="5900" i="1" u="sng" dirty="0">
              <a:cs typeface="Arial" panose="020B0604020202020204" pitchFamily="34" charset="0"/>
            </a:endParaRPr>
          </a:p>
          <a:p>
            <a:pPr>
              <a:buNone/>
            </a:pPr>
            <a:r>
              <a:rPr lang="en-US" sz="5000" dirty="0">
                <a:latin typeface="Arial" panose="020B0604020202020204" pitchFamily="34" charset="0"/>
                <a:cs typeface="Arial" panose="020B0604020202020204" pitchFamily="34" charset="0"/>
              </a:rPr>
              <a:t>           </a:t>
            </a:r>
            <a:endParaRPr lang="en-US" sz="5000" dirty="0">
              <a:latin typeface="Arial" panose="020B0604020202020204" pitchFamily="34" charset="0"/>
              <a:cs typeface="Arial" panose="020B0604020202020204" pitchFamily="34" charset="0"/>
            </a:endParaRPr>
          </a:p>
          <a:p>
            <a:pPr>
              <a:buNone/>
            </a:pPr>
            <a:r>
              <a:rPr lang="en-US" sz="5000" dirty="0">
                <a:latin typeface="Arial" panose="020B0604020202020204" pitchFamily="34" charset="0"/>
                <a:cs typeface="Arial" panose="020B0604020202020204" pitchFamily="34" charset="0"/>
              </a:rPr>
              <a:t>         Now, we handle the null values that are present in the dataset for better accuracy</a:t>
            </a:r>
            <a:endParaRPr lang="en-US" sz="5000" dirty="0">
              <a:latin typeface="Arial" panose="020B0604020202020204" pitchFamily="34" charset="0"/>
              <a:cs typeface="Arial" panose="020B0604020202020204" pitchFamily="34" charset="0"/>
            </a:endParaRPr>
          </a:p>
          <a:p>
            <a:br>
              <a:rPr lang="en-US" sz="2400" dirty="0"/>
            </a:br>
            <a:endParaRPr lang="en-US" sz="2400" dirty="0"/>
          </a:p>
          <a:p>
            <a:pPr>
              <a:buNone/>
            </a:pPr>
            <a:br>
              <a:rPr lang="en-US" sz="2400" dirty="0"/>
            </a:br>
            <a:endParaRPr lang="en-US" sz="2400" dirty="0">
              <a:latin typeface="Arial" panose="020B0604020202020204" pitchFamily="34" charset="0"/>
              <a:cs typeface="Arial" panose="020B0604020202020204" pitchFamily="34" charset="0"/>
            </a:endParaRPr>
          </a:p>
          <a:p>
            <a:pPr>
              <a:buNone/>
            </a:pPr>
            <a:br>
              <a:rPr lang="en-US" dirty="0"/>
            </a:br>
            <a:endParaRPr lang="en-US" dirty="0"/>
          </a:p>
        </p:txBody>
      </p:sp>
      <p:sp>
        <p:nvSpPr>
          <p:cNvPr id="4" name="Date Placeholder 3"/>
          <p:cNvSpPr>
            <a:spLocks noGrp="1"/>
          </p:cNvSpPr>
          <p:nvPr>
            <p:ph type="dt" sz="half" idx="10"/>
          </p:nvPr>
        </p:nvSpPr>
        <p:spPr/>
        <p:txBody>
          <a:bodyPr/>
          <a:lstStyle/>
          <a:p>
            <a:fld id="{D5EFACEF-20B2-4FB6-8C2A-91106E3866EC}" type="datetime3">
              <a:rPr lang="en-US" smtClean="0"/>
            </a:fld>
            <a:endParaRPr lang="en-US"/>
          </a:p>
        </p:txBody>
      </p:sp>
      <p:sp>
        <p:nvSpPr>
          <p:cNvPr id="5" name="Footer Placeholder 4"/>
          <p:cNvSpPr>
            <a:spLocks noGrp="1"/>
          </p:cNvSpPr>
          <p:nvPr>
            <p:ph type="ftr" sz="quarter" idx="11"/>
          </p:nvPr>
        </p:nvSpPr>
        <p:spPr/>
        <p:txBody>
          <a:bodyPr/>
          <a:lstStyle/>
          <a:p>
            <a:r>
              <a:rPr lang="en-US"/>
              <a:t>Department of CSE</a:t>
            </a:r>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sz="3100" dirty="0">
                <a:solidFill>
                  <a:srgbClr val="C00000"/>
                </a:solidFill>
              </a:rPr>
              <a:t>Model Generation Using multiple linear regression</a:t>
            </a:r>
            <a:br>
              <a:rPr lang="en-US" dirty="0"/>
            </a:br>
            <a:endParaRPr lang="en-US" dirty="0"/>
          </a:p>
        </p:txBody>
      </p:sp>
      <p:sp>
        <p:nvSpPr>
          <p:cNvPr id="3" name="Content Placeholder 2"/>
          <p:cNvSpPr>
            <a:spLocks noGrp="1"/>
          </p:cNvSpPr>
          <p:nvPr>
            <p:ph idx="1"/>
          </p:nvPr>
        </p:nvSpPr>
        <p:spPr>
          <a:xfrm>
            <a:off x="457200" y="1371600"/>
            <a:ext cx="8229600" cy="4984749"/>
          </a:xfrm>
        </p:spPr>
        <p:txBody>
          <a:bodyPr>
            <a:normAutofit/>
          </a:bodyPr>
          <a:lstStyle/>
          <a:p>
            <a:r>
              <a:rPr lang="en-US" sz="20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 After preparing the data, we can fit different models on the training data and compare their performance to choose the algorithm with good performance. </a:t>
            </a:r>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pPr marL="457200" indent="-457200"/>
            <a:r>
              <a:rPr lang="en-US" sz="2400" dirty="0">
                <a:latin typeface="Arial" panose="020B0604020202020204" pitchFamily="34" charset="0"/>
                <a:cs typeface="Arial" panose="020B0604020202020204" pitchFamily="34" charset="0"/>
              </a:rPr>
              <a:t> Machine learning consists of algorithms that can automate analytical model building. </a:t>
            </a:r>
            <a:endParaRPr lang="en-US" sz="2400" dirty="0">
              <a:latin typeface="Arial" panose="020B0604020202020204" pitchFamily="34" charset="0"/>
              <a:cs typeface="Arial" panose="020B0604020202020204" pitchFamily="34" charset="0"/>
            </a:endParaRPr>
          </a:p>
          <a:p>
            <a:pPr marL="457200" indent="-457200"/>
            <a:endParaRPr lang="en-US" sz="2400" dirty="0">
              <a:latin typeface="Arial" panose="020B0604020202020204" pitchFamily="34" charset="0"/>
              <a:cs typeface="Arial" panose="020B0604020202020204" pitchFamily="34" charset="0"/>
            </a:endParaRPr>
          </a:p>
          <a:p>
            <a:pPr marL="457200" indent="-457200"/>
            <a:r>
              <a:rPr lang="en-US" sz="2400" dirty="0">
                <a:latin typeface="Arial" panose="020B0604020202020204" pitchFamily="34" charset="0"/>
                <a:cs typeface="Arial" panose="020B0604020202020204" pitchFamily="34" charset="0"/>
              </a:rPr>
              <a:t>Using algorithms that iteratively learn from data. In this step, we applying several machine learning algorithms to training data. As this is a regression problem, we can use RMSE (Root Mean Square Error) and R² score as evaluation metrics.</a:t>
            </a:r>
            <a:endParaRPr lang="en-US" sz="2400" dirty="0">
              <a:latin typeface="Arial" panose="020B0604020202020204" pitchFamily="34" charset="0"/>
              <a:cs typeface="Arial" panose="020B0604020202020204" pitchFamily="34" charset="0"/>
            </a:endParaRPr>
          </a:p>
          <a:p>
            <a:endParaRPr lang="en-US" dirty="0"/>
          </a:p>
        </p:txBody>
      </p:sp>
      <p:sp>
        <p:nvSpPr>
          <p:cNvPr id="4" name="Date Placeholder 3"/>
          <p:cNvSpPr>
            <a:spLocks noGrp="1"/>
          </p:cNvSpPr>
          <p:nvPr>
            <p:ph type="dt" sz="half" idx="10"/>
          </p:nvPr>
        </p:nvSpPr>
        <p:spPr/>
        <p:txBody>
          <a:bodyPr/>
          <a:lstStyle/>
          <a:p>
            <a:fld id="{D5EFACEF-20B2-4FB6-8C2A-91106E3866EC}" type="datetime3">
              <a:rPr lang="en-US" smtClean="0"/>
            </a:fld>
            <a:endParaRPr lang="en-US"/>
          </a:p>
        </p:txBody>
      </p:sp>
      <p:sp>
        <p:nvSpPr>
          <p:cNvPr id="5" name="Footer Placeholder 4"/>
          <p:cNvSpPr>
            <a:spLocks noGrp="1"/>
          </p:cNvSpPr>
          <p:nvPr>
            <p:ph type="ftr" sz="quarter" idx="11"/>
          </p:nvPr>
        </p:nvSpPr>
        <p:spPr/>
        <p:txBody>
          <a:bodyPr/>
          <a:lstStyle/>
          <a:p>
            <a:r>
              <a:rPr lang="en-US"/>
              <a:t>Department of CSE</a:t>
            </a:r>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899160"/>
          </a:xfrm>
        </p:spPr>
        <p:txBody>
          <a:bodyPr>
            <a:normAutofit fontScale="90000"/>
          </a:bodyPr>
          <a:lstStyle/>
          <a:p>
            <a:br>
              <a:rPr lang="en-US" dirty="0"/>
            </a:br>
            <a:r>
              <a:rPr lang="en-US" sz="3300" dirty="0">
                <a:solidFill>
                  <a:srgbClr val="C00000"/>
                </a:solidFill>
              </a:rPr>
              <a:t>Model Generation Using multiple linear regression</a:t>
            </a:r>
            <a:endParaRPr lang="en-IN" sz="3300" dirty="0">
              <a:solidFill>
                <a:srgbClr val="C00000"/>
              </a:solidFill>
            </a:endParaRPr>
          </a:p>
        </p:txBody>
      </p:sp>
      <p:sp>
        <p:nvSpPr>
          <p:cNvPr id="3" name="Content Placeholder 2"/>
          <p:cNvSpPr>
            <a:spLocks noGrp="1"/>
          </p:cNvSpPr>
          <p:nvPr>
            <p:ph idx="1"/>
          </p:nvPr>
        </p:nvSpPr>
        <p:spPr/>
        <p:txBody>
          <a:bodyPr>
            <a:normAutofit fontScale="85000" lnSpcReduction="10000"/>
          </a:bodyPr>
          <a:lstStyle/>
          <a:p>
            <a:r>
              <a:rPr lang="en-US" dirty="0"/>
              <a:t>Linear Regression (LR) Linear regression is an old method to evaluate the correlation between two or more features. </a:t>
            </a:r>
            <a:endParaRPr lang="en-US" dirty="0"/>
          </a:p>
          <a:p>
            <a:r>
              <a:rPr lang="en-US" dirty="0"/>
              <a:t>After deciding the relationship between features (input) and target (output), the learning process will be run to minimize the loss function value (like Mean Squared Error). </a:t>
            </a:r>
            <a:endParaRPr lang="en-US" dirty="0"/>
          </a:p>
          <a:p>
            <a:r>
              <a:rPr lang="en-US" dirty="0"/>
              <a:t>The parameters that minimize the loss function are exactly the optimal parameters for the regression.</a:t>
            </a:r>
            <a:endParaRPr lang="en-US" dirty="0"/>
          </a:p>
          <a:p>
            <a:r>
              <a:rPr lang="en-US" dirty="0"/>
              <a:t> The general form of a multiple linear regression model is        yˆ = a0 + m ∑ j = 1 </a:t>
            </a:r>
            <a:r>
              <a:rPr lang="en-US" dirty="0" err="1"/>
              <a:t>ajXj</a:t>
            </a:r>
            <a:r>
              <a:rPr lang="en-US" dirty="0"/>
              <a:t> </a:t>
            </a:r>
            <a:endParaRPr lang="en-US" dirty="0"/>
          </a:p>
          <a:p>
            <a:endParaRPr lang="en-IN" dirty="0"/>
          </a:p>
        </p:txBody>
      </p:sp>
      <p:sp>
        <p:nvSpPr>
          <p:cNvPr id="4" name="Date Placeholder 3"/>
          <p:cNvSpPr>
            <a:spLocks noGrp="1"/>
          </p:cNvSpPr>
          <p:nvPr>
            <p:ph type="dt" sz="half" idx="10"/>
          </p:nvPr>
        </p:nvSpPr>
        <p:spPr/>
        <p:txBody>
          <a:bodyPr/>
          <a:lstStyle/>
          <a:p>
            <a:fld id="{D5EFACEF-20B2-4FB6-8C2A-91106E3866EC}" type="datetime3">
              <a:rPr lang="en-US" smtClean="0"/>
            </a:fld>
            <a:endParaRPr lang="en-US"/>
          </a:p>
        </p:txBody>
      </p:sp>
      <p:sp>
        <p:nvSpPr>
          <p:cNvPr id="5" name="Footer Placeholder 4"/>
          <p:cNvSpPr>
            <a:spLocks noGrp="1"/>
          </p:cNvSpPr>
          <p:nvPr>
            <p:ph type="ftr" sz="quarter" idx="11"/>
          </p:nvPr>
        </p:nvSpPr>
        <p:spPr/>
        <p:txBody>
          <a:bodyPr/>
          <a:lstStyle/>
          <a:p>
            <a:r>
              <a:rPr lang="en-US"/>
              <a:t>Department of CSE</a:t>
            </a:r>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solidFill>
                  <a:srgbClr val="C00000"/>
                </a:solidFill>
                <a:latin typeface="Arial" panose="020B0604020202020204" pitchFamily="34" charset="0"/>
                <a:cs typeface="Arial" panose="020B0604020202020204" pitchFamily="34" charset="0"/>
              </a:rPr>
              <a:t>Application snapshots</a:t>
            </a:r>
            <a:endParaRPr lang="en-IN" dirty="0">
              <a:solidFill>
                <a:srgbClr val="FF0000"/>
              </a:solidFill>
            </a:endParaRPr>
          </a:p>
        </p:txBody>
      </p:sp>
      <p:pic>
        <p:nvPicPr>
          <p:cNvPr id="7" name="Content Placeholder 6"/>
          <p:cNvPicPr>
            <a:picLocks noGrp="1" noChangeAspect="1"/>
          </p:cNvPicPr>
          <p:nvPr>
            <p:ph idx="1"/>
          </p:nvPr>
        </p:nvPicPr>
        <p:blipFill>
          <a:blip r:embed="rId1"/>
          <a:stretch>
            <a:fillRect/>
          </a:stretch>
        </p:blipFill>
        <p:spPr>
          <a:xfrm>
            <a:off x="457200" y="1295400"/>
            <a:ext cx="8229599" cy="4953000"/>
          </a:xfrm>
          <a:prstGeom prst="rect">
            <a:avLst/>
          </a:prstGeom>
        </p:spPr>
      </p:pic>
      <p:sp>
        <p:nvSpPr>
          <p:cNvPr id="4" name="Date Placeholder 3"/>
          <p:cNvSpPr>
            <a:spLocks noGrp="1"/>
          </p:cNvSpPr>
          <p:nvPr>
            <p:ph type="dt" sz="half" idx="10"/>
          </p:nvPr>
        </p:nvSpPr>
        <p:spPr/>
        <p:txBody>
          <a:bodyPr/>
          <a:lstStyle/>
          <a:p>
            <a:fld id="{D5EFACEF-20B2-4FB6-8C2A-91106E3866EC}" type="datetime3">
              <a:rPr lang="en-US" smtClean="0"/>
            </a:fld>
            <a:endParaRPr lang="en-US"/>
          </a:p>
        </p:txBody>
      </p:sp>
      <p:sp>
        <p:nvSpPr>
          <p:cNvPr id="5" name="Footer Placeholder 4"/>
          <p:cNvSpPr>
            <a:spLocks noGrp="1"/>
          </p:cNvSpPr>
          <p:nvPr>
            <p:ph type="ftr" sz="quarter" idx="11"/>
          </p:nvPr>
        </p:nvSpPr>
        <p:spPr/>
        <p:txBody>
          <a:bodyPr/>
          <a:lstStyle/>
          <a:p>
            <a:r>
              <a:rPr lang="en-US"/>
              <a:t>Department of CSE</a:t>
            </a:r>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dirty="0">
                <a:solidFill>
                  <a:srgbClr val="C00000"/>
                </a:solidFill>
              </a:rPr>
              <a:t>Application snapshots</a:t>
            </a:r>
            <a:endParaRPr lang="en-IN" dirty="0">
              <a:solidFill>
                <a:srgbClr val="C00000"/>
              </a:solidFill>
            </a:endParaRPr>
          </a:p>
        </p:txBody>
      </p:sp>
      <p:pic>
        <p:nvPicPr>
          <p:cNvPr id="7" name="Content Placeholder 6"/>
          <p:cNvPicPr>
            <a:picLocks noGrp="1" noChangeAspect="1"/>
          </p:cNvPicPr>
          <p:nvPr>
            <p:ph idx="1"/>
          </p:nvPr>
        </p:nvPicPr>
        <p:blipFill>
          <a:blip r:embed="rId1"/>
          <a:stretch>
            <a:fillRect/>
          </a:stretch>
        </p:blipFill>
        <p:spPr>
          <a:xfrm>
            <a:off x="484152" y="1386840"/>
            <a:ext cx="7856894" cy="4404360"/>
          </a:xfrm>
          <a:prstGeom prst="rect">
            <a:avLst/>
          </a:prstGeom>
        </p:spPr>
      </p:pic>
      <p:sp>
        <p:nvSpPr>
          <p:cNvPr id="4" name="Date Placeholder 3"/>
          <p:cNvSpPr>
            <a:spLocks noGrp="1"/>
          </p:cNvSpPr>
          <p:nvPr>
            <p:ph type="dt" sz="half" idx="10"/>
          </p:nvPr>
        </p:nvSpPr>
        <p:spPr/>
        <p:txBody>
          <a:bodyPr/>
          <a:lstStyle/>
          <a:p>
            <a:fld id="{D5EFACEF-20B2-4FB6-8C2A-91106E3866EC}" type="datetime3">
              <a:rPr lang="en-US" smtClean="0"/>
            </a:fld>
            <a:endParaRPr lang="en-US"/>
          </a:p>
        </p:txBody>
      </p:sp>
      <p:sp>
        <p:nvSpPr>
          <p:cNvPr id="5" name="Footer Placeholder 4"/>
          <p:cNvSpPr>
            <a:spLocks noGrp="1"/>
          </p:cNvSpPr>
          <p:nvPr>
            <p:ph type="ftr" sz="quarter" idx="11"/>
          </p:nvPr>
        </p:nvSpPr>
        <p:spPr/>
        <p:txBody>
          <a:bodyPr/>
          <a:lstStyle/>
          <a:p>
            <a:r>
              <a:rPr lang="en-US"/>
              <a:t>Department of CSE</a:t>
            </a:r>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rgbClr val="C00000"/>
                </a:solidFill>
                <a:latin typeface="Arial" panose="020B0604020202020204" pitchFamily="34" charset="0"/>
                <a:cs typeface="Arial" panose="020B0604020202020204" pitchFamily="34" charset="0"/>
              </a:rPr>
              <a:t>Application snapshots</a:t>
            </a:r>
            <a:endParaRPr lang="en-IN" dirty="0"/>
          </a:p>
        </p:txBody>
      </p:sp>
      <p:pic>
        <p:nvPicPr>
          <p:cNvPr id="7" name="Content Placeholder 6"/>
          <p:cNvPicPr>
            <a:picLocks noGrp="1" noChangeAspect="1"/>
          </p:cNvPicPr>
          <p:nvPr>
            <p:ph idx="1"/>
          </p:nvPr>
        </p:nvPicPr>
        <p:blipFill>
          <a:blip r:embed="rId1"/>
          <a:stretch>
            <a:fillRect/>
          </a:stretch>
        </p:blipFill>
        <p:spPr>
          <a:xfrm>
            <a:off x="741680" y="1600200"/>
            <a:ext cx="7924800" cy="4525963"/>
          </a:xfrm>
          <a:prstGeom prst="rect">
            <a:avLst/>
          </a:prstGeom>
        </p:spPr>
      </p:pic>
      <p:sp>
        <p:nvSpPr>
          <p:cNvPr id="4" name="Date Placeholder 3"/>
          <p:cNvSpPr>
            <a:spLocks noGrp="1"/>
          </p:cNvSpPr>
          <p:nvPr>
            <p:ph type="dt" sz="half" idx="10"/>
          </p:nvPr>
        </p:nvSpPr>
        <p:spPr/>
        <p:txBody>
          <a:bodyPr/>
          <a:lstStyle/>
          <a:p>
            <a:fld id="{D5EFACEF-20B2-4FB6-8C2A-91106E3866EC}" type="datetime3">
              <a:rPr lang="en-US" smtClean="0"/>
            </a:fld>
            <a:endParaRPr lang="en-US"/>
          </a:p>
        </p:txBody>
      </p:sp>
      <p:sp>
        <p:nvSpPr>
          <p:cNvPr id="5" name="Footer Placeholder 4"/>
          <p:cNvSpPr>
            <a:spLocks noGrp="1"/>
          </p:cNvSpPr>
          <p:nvPr>
            <p:ph type="ftr" sz="quarter" idx="11"/>
          </p:nvPr>
        </p:nvSpPr>
        <p:spPr/>
        <p:txBody>
          <a:bodyPr/>
          <a:lstStyle/>
          <a:p>
            <a:r>
              <a:rPr lang="en-US"/>
              <a:t>Department of CSE</a:t>
            </a:r>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rgbClr val="C00000"/>
                </a:solidFill>
              </a:rPr>
              <a:t>Results and Discussion</a:t>
            </a:r>
            <a:endParaRPr lang="en-US" dirty="0">
              <a:solidFill>
                <a:srgbClr val="C00000"/>
              </a:solidFill>
            </a:endParaRPr>
          </a:p>
        </p:txBody>
      </p:sp>
      <p:sp>
        <p:nvSpPr>
          <p:cNvPr id="3" name="Content Placeholder 2"/>
          <p:cNvSpPr>
            <a:spLocks noGrp="1"/>
          </p:cNvSpPr>
          <p:nvPr>
            <p:ph idx="1"/>
          </p:nvPr>
        </p:nvSpPr>
        <p:spPr>
          <a:xfrm>
            <a:off x="457200" y="1219200"/>
            <a:ext cx="8229600" cy="4906963"/>
          </a:xfrm>
        </p:spPr>
        <p:txBody>
          <a:bodyPr/>
          <a:lstStyle/>
          <a:p>
            <a:pPr marL="0" indent="0">
              <a:buNone/>
            </a:pPr>
            <a:r>
              <a:rPr lang="en-US" sz="2000" i="1" u="sng" dirty="0"/>
              <a:t>Predicted Values vs Original Values</a:t>
            </a:r>
            <a:endParaRPr lang="en-US" sz="2000" u="sng" dirty="0"/>
          </a:p>
          <a:p>
            <a:pPr>
              <a:buNone/>
            </a:pPr>
            <a:r>
              <a:rPr lang="en-US" sz="2000" dirty="0"/>
              <a:t>    Now, we take a comparison between the predicted values of the dependent variable </a:t>
            </a:r>
            <a:r>
              <a:rPr lang="en-US" sz="2000" dirty="0" err="1"/>
              <a:t>csMPa</a:t>
            </a:r>
            <a:r>
              <a:rPr lang="en-US" sz="2000" dirty="0"/>
              <a:t> and the original values of variable </a:t>
            </a:r>
            <a:r>
              <a:rPr lang="en-US" sz="2000" dirty="0" err="1"/>
              <a:t>csMPa</a:t>
            </a:r>
            <a:r>
              <a:rPr lang="en-US" sz="2000" dirty="0"/>
              <a:t>.</a:t>
            </a:r>
            <a:endParaRPr lang="en-US" sz="2000" dirty="0"/>
          </a:p>
          <a:p>
            <a:endParaRPr lang="en-US" dirty="0"/>
          </a:p>
          <a:p>
            <a:endParaRPr lang="en-US" dirty="0"/>
          </a:p>
        </p:txBody>
      </p:sp>
      <p:sp>
        <p:nvSpPr>
          <p:cNvPr id="4" name="Date Placeholder 3"/>
          <p:cNvSpPr>
            <a:spLocks noGrp="1"/>
          </p:cNvSpPr>
          <p:nvPr>
            <p:ph type="dt" sz="half" idx="10"/>
          </p:nvPr>
        </p:nvSpPr>
        <p:spPr/>
        <p:txBody>
          <a:bodyPr/>
          <a:lstStyle/>
          <a:p>
            <a:fld id="{D5EFACEF-20B2-4FB6-8C2A-91106E3866EC}" type="datetime3">
              <a:rPr lang="en-US" smtClean="0"/>
            </a:fld>
            <a:endParaRPr lang="en-US"/>
          </a:p>
        </p:txBody>
      </p:sp>
      <p:sp>
        <p:nvSpPr>
          <p:cNvPr id="5" name="Footer Placeholder 4"/>
          <p:cNvSpPr>
            <a:spLocks noGrp="1"/>
          </p:cNvSpPr>
          <p:nvPr>
            <p:ph type="ftr" sz="quarter" idx="11"/>
          </p:nvPr>
        </p:nvSpPr>
        <p:spPr/>
        <p:txBody>
          <a:bodyPr/>
          <a:lstStyle/>
          <a:p>
            <a:r>
              <a:rPr lang="en-US"/>
              <a:t>Department of CSE</a:t>
            </a:r>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pic>
        <p:nvPicPr>
          <p:cNvPr id="7" name="Picture 6"/>
          <p:cNvPicPr>
            <a:picLocks noChangeAspect="1"/>
          </p:cNvPicPr>
          <p:nvPr/>
        </p:nvPicPr>
        <p:blipFill>
          <a:blip r:embed="rId1"/>
          <a:stretch>
            <a:fillRect/>
          </a:stretch>
        </p:blipFill>
        <p:spPr>
          <a:xfrm>
            <a:off x="2667000" y="2286000"/>
            <a:ext cx="4038600" cy="407035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rgbClr val="C00000"/>
                </a:solidFill>
              </a:rPr>
              <a:t>Results and Discussion</a:t>
            </a:r>
            <a:endParaRPr lang="en-US" dirty="0"/>
          </a:p>
        </p:txBody>
      </p:sp>
      <p:pic>
        <p:nvPicPr>
          <p:cNvPr id="7" name="Content Placeholder 6" descr="Capture.PNG"/>
          <p:cNvPicPr>
            <a:picLocks noGrp="1" noChangeAspect="1"/>
          </p:cNvPicPr>
          <p:nvPr>
            <p:ph idx="1"/>
          </p:nvPr>
        </p:nvPicPr>
        <p:blipFill rotWithShape="1">
          <a:blip r:embed="rId1"/>
          <a:srcRect l="1400" t="14654" r="-1400" b="2306"/>
          <a:stretch>
            <a:fillRect/>
          </a:stretch>
        </p:blipFill>
        <p:spPr>
          <a:xfrm>
            <a:off x="847580" y="1562100"/>
            <a:ext cx="7924800" cy="3886200"/>
          </a:xfrm>
        </p:spPr>
      </p:pic>
      <p:sp>
        <p:nvSpPr>
          <p:cNvPr id="4" name="Date Placeholder 3"/>
          <p:cNvSpPr>
            <a:spLocks noGrp="1"/>
          </p:cNvSpPr>
          <p:nvPr>
            <p:ph type="dt" sz="half" idx="10"/>
          </p:nvPr>
        </p:nvSpPr>
        <p:spPr/>
        <p:txBody>
          <a:bodyPr/>
          <a:lstStyle/>
          <a:p>
            <a:fld id="{D5EFACEF-20B2-4FB6-8C2A-91106E3866EC}" type="datetime3">
              <a:rPr lang="en-US" smtClean="0"/>
            </a:fld>
            <a:endParaRPr lang="en-US"/>
          </a:p>
        </p:txBody>
      </p:sp>
      <p:sp>
        <p:nvSpPr>
          <p:cNvPr id="5" name="Footer Placeholder 4"/>
          <p:cNvSpPr>
            <a:spLocks noGrp="1"/>
          </p:cNvSpPr>
          <p:nvPr>
            <p:ph type="ftr" sz="quarter" idx="11"/>
          </p:nvPr>
        </p:nvSpPr>
        <p:spPr/>
        <p:txBody>
          <a:bodyPr/>
          <a:lstStyle/>
          <a:p>
            <a:r>
              <a:rPr lang="en-US"/>
              <a:t>Department of CSE</a:t>
            </a:r>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
        <p:nvSpPr>
          <p:cNvPr id="3" name="TextBox 2"/>
          <p:cNvSpPr txBox="1"/>
          <p:nvPr/>
        </p:nvSpPr>
        <p:spPr>
          <a:xfrm>
            <a:off x="3428743" y="5269468"/>
            <a:ext cx="2762474" cy="400110"/>
          </a:xfrm>
          <a:prstGeom prst="rect">
            <a:avLst/>
          </a:prstGeom>
          <a:noFill/>
        </p:spPr>
        <p:txBody>
          <a:bodyPr wrap="square" rtlCol="0">
            <a:spAutoFit/>
          </a:bodyPr>
          <a:lstStyle/>
          <a:p>
            <a:r>
              <a:rPr lang="en-US" sz="2000" dirty="0"/>
              <a:t>Final Feature Coefficient</a:t>
            </a:r>
            <a:endParaRPr lang="en-IN"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rgbClr val="C00000"/>
                </a:solidFill>
              </a:rPr>
              <a:t>Results and Discussion</a:t>
            </a:r>
            <a:endParaRPr lang="en-US" dirty="0"/>
          </a:p>
        </p:txBody>
      </p:sp>
      <p:pic>
        <p:nvPicPr>
          <p:cNvPr id="7" name="Content Placeholder 6" descr="Capture.PNG"/>
          <p:cNvPicPr>
            <a:picLocks noGrp="1" noChangeAspect="1"/>
          </p:cNvPicPr>
          <p:nvPr>
            <p:ph idx="1"/>
          </p:nvPr>
        </p:nvPicPr>
        <p:blipFill rotWithShape="1">
          <a:blip r:embed="rId1"/>
          <a:srcRect b="10344"/>
          <a:stretch>
            <a:fillRect/>
          </a:stretch>
        </p:blipFill>
        <p:spPr>
          <a:xfrm>
            <a:off x="694400" y="1793556"/>
            <a:ext cx="7848600" cy="3859213"/>
          </a:xfrm>
        </p:spPr>
      </p:pic>
      <p:sp>
        <p:nvSpPr>
          <p:cNvPr id="4" name="Date Placeholder 3"/>
          <p:cNvSpPr>
            <a:spLocks noGrp="1"/>
          </p:cNvSpPr>
          <p:nvPr>
            <p:ph type="dt" sz="half" idx="10"/>
          </p:nvPr>
        </p:nvSpPr>
        <p:spPr/>
        <p:txBody>
          <a:bodyPr/>
          <a:lstStyle/>
          <a:p>
            <a:fld id="{D5EFACEF-20B2-4FB6-8C2A-91106E3866EC}" type="datetime3">
              <a:rPr lang="en-US" smtClean="0"/>
            </a:fld>
            <a:endParaRPr lang="en-US"/>
          </a:p>
        </p:txBody>
      </p:sp>
      <p:sp>
        <p:nvSpPr>
          <p:cNvPr id="5" name="Footer Placeholder 4"/>
          <p:cNvSpPr>
            <a:spLocks noGrp="1"/>
          </p:cNvSpPr>
          <p:nvPr>
            <p:ph type="ftr" sz="quarter" idx="11"/>
          </p:nvPr>
        </p:nvSpPr>
        <p:spPr/>
        <p:txBody>
          <a:bodyPr/>
          <a:lstStyle/>
          <a:p>
            <a:r>
              <a:rPr lang="en-US"/>
              <a:t>Department of CSE</a:t>
            </a:r>
            <a:endParaRPr lang="en-US"/>
          </a:p>
        </p:txBody>
      </p:sp>
      <p:sp>
        <p:nvSpPr>
          <p:cNvPr id="6" name="Slide Number Placeholder 5"/>
          <p:cNvSpPr>
            <a:spLocks noGrp="1"/>
          </p:cNvSpPr>
          <p:nvPr>
            <p:ph type="sldNum" sz="quarter" idx="12"/>
          </p:nvPr>
        </p:nvSpPr>
        <p:spPr>
          <a:xfrm>
            <a:off x="6394940" y="6095045"/>
            <a:ext cx="2133600" cy="365125"/>
          </a:xfrm>
        </p:spPr>
        <p:txBody>
          <a:bodyPr/>
          <a:lstStyle/>
          <a:p>
            <a:fld id="{7B28076C-CE04-4A00-BFAA-A90EA8355859}" type="slidenum">
              <a:rPr lang="en-US" smtClean="0"/>
            </a:fld>
            <a:endParaRPr lang="en-US"/>
          </a:p>
        </p:txBody>
      </p:sp>
      <p:sp>
        <p:nvSpPr>
          <p:cNvPr id="12" name="TextBox 11"/>
          <p:cNvSpPr txBox="1"/>
          <p:nvPr/>
        </p:nvSpPr>
        <p:spPr>
          <a:xfrm>
            <a:off x="762000" y="1301114"/>
            <a:ext cx="7086600" cy="984885"/>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Let's see how each model values each feature by visualizing the coefficients:</a:t>
            </a:r>
            <a:endParaRPr lang="en-US" sz="2000" dirty="0">
              <a:latin typeface="Arial" panose="020B0604020202020204" pitchFamily="34" charset="0"/>
              <a:cs typeface="Arial" panose="020B0604020202020204" pitchFamily="34" charset="0"/>
            </a:endParaRPr>
          </a:p>
          <a:p>
            <a:endParaRPr lang="en-US" dirty="0"/>
          </a:p>
        </p:txBody>
      </p:sp>
      <p:sp>
        <p:nvSpPr>
          <p:cNvPr id="8" name="TextBox 7"/>
          <p:cNvSpPr txBox="1"/>
          <p:nvPr/>
        </p:nvSpPr>
        <p:spPr>
          <a:xfrm>
            <a:off x="2819400" y="5504575"/>
            <a:ext cx="3991862" cy="369332"/>
          </a:xfrm>
          <a:prstGeom prst="rect">
            <a:avLst/>
          </a:prstGeom>
          <a:noFill/>
        </p:spPr>
        <p:txBody>
          <a:bodyPr wrap="none" rtlCol="0">
            <a:spAutoFit/>
          </a:bodyPr>
          <a:lstStyle/>
          <a:p>
            <a:r>
              <a:rPr lang="en-US" dirty="0"/>
              <a:t>Comparison of feature coefficient graph</a:t>
            </a:r>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69904C1-5E6A-44F3-BD9A-0DE0BABDF9AF}" type="datetime3">
              <a:rPr lang="en-US" smtClean="0"/>
            </a:fld>
            <a:endParaRPr lang="en-US"/>
          </a:p>
        </p:txBody>
      </p:sp>
      <p:sp>
        <p:nvSpPr>
          <p:cNvPr id="5" name="Footer Placeholder 4"/>
          <p:cNvSpPr>
            <a:spLocks noGrp="1"/>
          </p:cNvSpPr>
          <p:nvPr>
            <p:ph type="ftr" sz="quarter" idx="11"/>
          </p:nvPr>
        </p:nvSpPr>
        <p:spPr/>
        <p:txBody>
          <a:bodyPr/>
          <a:lstStyle/>
          <a:p>
            <a:r>
              <a:rPr lang="en-US"/>
              <a:t>Department of CSE</a:t>
            </a:r>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
        <p:nvSpPr>
          <p:cNvPr id="7" name="Title 1"/>
          <p:cNvSpPr>
            <a:spLocks noGrp="1"/>
          </p:cNvSpPr>
          <p:nvPr>
            <p:ph type="title"/>
          </p:nvPr>
        </p:nvSpPr>
        <p:spPr>
          <a:xfrm>
            <a:off x="381000" y="381000"/>
            <a:ext cx="8229600" cy="685800"/>
          </a:xfrm>
        </p:spPr>
        <p:txBody>
          <a:bodyPr>
            <a:normAutofit fontScale="90000"/>
          </a:bodyPr>
          <a:lstStyle/>
          <a:p>
            <a:pPr algn="l"/>
            <a:r>
              <a:rPr lang="en-US" dirty="0">
                <a:solidFill>
                  <a:srgbClr val="C00000"/>
                </a:solidFill>
                <a:latin typeface="Arial" panose="020B0604020202020204" pitchFamily="34" charset="0"/>
                <a:cs typeface="Arial" panose="020B0604020202020204" pitchFamily="34" charset="0"/>
              </a:rPr>
              <a:t>Results and Discussion</a:t>
            </a:r>
            <a:endParaRPr lang="en-US" dirty="0">
              <a:solidFill>
                <a:srgbClr val="C00000"/>
              </a:solidFill>
              <a:latin typeface="Arial" panose="020B0604020202020204" pitchFamily="34" charset="0"/>
              <a:cs typeface="Arial" panose="020B0604020202020204" pitchFamily="34" charset="0"/>
            </a:endParaRPr>
          </a:p>
        </p:txBody>
      </p:sp>
      <p:sp>
        <p:nvSpPr>
          <p:cNvPr id="8" name="Content Placeholder 2"/>
          <p:cNvSpPr>
            <a:spLocks noGrp="1"/>
          </p:cNvSpPr>
          <p:nvPr>
            <p:ph idx="1"/>
          </p:nvPr>
        </p:nvSpPr>
        <p:spPr>
          <a:xfrm>
            <a:off x="457200" y="1295400"/>
            <a:ext cx="8305800" cy="5060950"/>
          </a:xfrm>
        </p:spPr>
        <p:txBody>
          <a:bodyPr>
            <a:noAutofit/>
          </a:bodyPr>
          <a:lstStyle/>
          <a:p>
            <a:pPr marL="0" indent="0">
              <a:buNone/>
            </a:pPr>
            <a:r>
              <a:rPr lang="en-US" sz="2100" dirty="0">
                <a:latin typeface="Arial" panose="020B0604020202020204" pitchFamily="34" charset="0"/>
                <a:cs typeface="Arial" panose="020B0604020202020204" pitchFamily="34" charset="0"/>
              </a:rPr>
              <a:t>             The performance measuring statistical parameters like Root Mean Square Error and ratio of prediction to actual values are used to check the efficiency of the proposed model for every group of data sets. </a:t>
            </a:r>
            <a:endParaRPr lang="en-US" sz="2100" dirty="0">
              <a:latin typeface="Arial" panose="020B0604020202020204" pitchFamily="34" charset="0"/>
              <a:cs typeface="Arial" panose="020B0604020202020204" pitchFamily="34" charset="0"/>
            </a:endParaRPr>
          </a:p>
          <a:p>
            <a:endParaRPr lang="en-US" sz="2100" dirty="0">
              <a:latin typeface="Arial" panose="020B0604020202020204" pitchFamily="34" charset="0"/>
              <a:cs typeface="Arial" panose="020B0604020202020204" pitchFamily="34" charset="0"/>
            </a:endParaRPr>
          </a:p>
          <a:p>
            <a:pPr marL="0" indent="0">
              <a:buNone/>
            </a:pPr>
            <a:r>
              <a:rPr lang="en-US" sz="2100" i="1" dirty="0">
                <a:latin typeface="Arial" panose="020B0604020202020204" pitchFamily="34" charset="0"/>
                <a:cs typeface="Arial" panose="020B0604020202020204" pitchFamily="34" charset="0"/>
              </a:rPr>
              <a:t>   </a:t>
            </a:r>
            <a:r>
              <a:rPr lang="en-US" sz="2100" i="1" u="sng" dirty="0">
                <a:latin typeface="Arial" panose="020B0604020202020204" pitchFamily="34" charset="0"/>
                <a:cs typeface="Arial" panose="020B0604020202020204" pitchFamily="34" charset="0"/>
              </a:rPr>
              <a:t>Scoring metrics</a:t>
            </a:r>
            <a:endParaRPr lang="en-US" sz="2100" i="1" u="sng" dirty="0">
              <a:latin typeface="Arial" panose="020B0604020202020204" pitchFamily="34" charset="0"/>
              <a:cs typeface="Arial" panose="020B0604020202020204" pitchFamily="34" charset="0"/>
            </a:endParaRPr>
          </a:p>
          <a:p>
            <a:pPr marL="514350" indent="-514350">
              <a:buNone/>
            </a:pPr>
            <a:r>
              <a:rPr lang="en-US" sz="2100" dirty="0">
                <a:latin typeface="Arial" panose="020B0604020202020204" pitchFamily="34" charset="0"/>
                <a:cs typeface="Arial" panose="020B0604020202020204" pitchFamily="34" charset="0"/>
              </a:rPr>
              <a:t>             Although all of our models have performed similarly, it depends on which scoring metric you look at the determine the overall winner. Let's explore the different scoring metrics.</a:t>
            </a:r>
            <a:endParaRPr lang="en-US" sz="2100" dirty="0">
              <a:latin typeface="Arial" panose="020B0604020202020204" pitchFamily="34" charset="0"/>
              <a:cs typeface="Arial" panose="020B0604020202020204" pitchFamily="34" charset="0"/>
            </a:endParaRPr>
          </a:p>
          <a:p>
            <a:pPr marL="514350" indent="-514350">
              <a:buNone/>
            </a:pPr>
            <a:endParaRPr lang="en-US" sz="2100" i="1" u="sng" dirty="0">
              <a:latin typeface="Arial" panose="020B0604020202020204" pitchFamily="34" charset="0"/>
              <a:cs typeface="Arial" panose="020B0604020202020204" pitchFamily="34" charset="0"/>
            </a:endParaRPr>
          </a:p>
          <a:p>
            <a:pPr marL="514350" indent="-514350">
              <a:buNone/>
            </a:pPr>
            <a:r>
              <a:rPr lang="en-US" sz="2100" i="1" dirty="0">
                <a:latin typeface="Arial" panose="020B0604020202020204" pitchFamily="34" charset="0"/>
                <a:cs typeface="Arial" panose="020B0604020202020204" pitchFamily="34" charset="0"/>
              </a:rPr>
              <a:t>   </a:t>
            </a:r>
            <a:r>
              <a:rPr lang="en-US" sz="2100" i="1" u="sng" dirty="0">
                <a:latin typeface="Arial" panose="020B0604020202020204" pitchFamily="34" charset="0"/>
                <a:cs typeface="Arial" panose="020B0604020202020204" pitchFamily="34" charset="0"/>
              </a:rPr>
              <a:t>Root Mean Square Error (RMSE)</a:t>
            </a:r>
            <a:endParaRPr lang="en-US" sz="2100" u="sng" dirty="0">
              <a:latin typeface="Arial" panose="020B0604020202020204" pitchFamily="34" charset="0"/>
              <a:cs typeface="Arial" panose="020B0604020202020204" pitchFamily="34" charset="0"/>
            </a:endParaRPr>
          </a:p>
          <a:p>
            <a:r>
              <a:rPr lang="en-US" sz="2100" dirty="0">
                <a:latin typeface="Arial" panose="020B0604020202020204" pitchFamily="34" charset="0"/>
                <a:cs typeface="Arial" panose="020B0604020202020204" pitchFamily="34" charset="0"/>
              </a:rPr>
              <a:t>          RMSE is the square root of the error function that the regression algorithms are trying to reduce. It is an absolute measure of how well the model fits the data.</a:t>
            </a:r>
            <a:endParaRPr lang="en-US" sz="2100" dirty="0">
              <a:latin typeface="Arial" panose="020B0604020202020204" pitchFamily="34" charset="0"/>
              <a:cs typeface="Arial" panose="020B0604020202020204" pitchFamily="34" charset="0"/>
            </a:endParaRPr>
          </a:p>
          <a:p>
            <a:pPr marL="514350" indent="-514350">
              <a:buNone/>
            </a:pPr>
            <a:endParaRPr lang="en-US" sz="2400" dirty="0">
              <a:latin typeface="Arial" panose="020B0604020202020204" pitchFamily="34" charset="0"/>
              <a:cs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rgbClr val="C00000"/>
                </a:solidFill>
              </a:rPr>
              <a:t>Results and Discussion</a:t>
            </a:r>
            <a:endParaRPr lang="en-US" dirty="0">
              <a:solidFill>
                <a:srgbClr val="C00000"/>
              </a:solidFill>
            </a:endParaRPr>
          </a:p>
        </p:txBody>
      </p:sp>
      <p:sp>
        <p:nvSpPr>
          <p:cNvPr id="3" name="Content Placeholder 2"/>
          <p:cNvSpPr>
            <a:spLocks noGrp="1"/>
          </p:cNvSpPr>
          <p:nvPr>
            <p:ph idx="1"/>
          </p:nvPr>
        </p:nvSpPr>
        <p:spPr>
          <a:xfrm>
            <a:off x="457200" y="1447800"/>
            <a:ext cx="8229600" cy="4678363"/>
          </a:xfrm>
        </p:spPr>
        <p:txBody>
          <a:bodyPr>
            <a:normAutofit/>
          </a:bodyPr>
          <a:lstStyle/>
          <a:p>
            <a:pPr>
              <a:buNone/>
            </a:pPr>
            <a:r>
              <a:rPr lang="en-US" sz="2600" i="1" u="sng" dirty="0">
                <a:latin typeface="Arial" panose="020B0604020202020204" pitchFamily="34" charset="0"/>
                <a:cs typeface="Arial" panose="020B0604020202020204" pitchFamily="34" charset="0"/>
              </a:rPr>
              <a:t>R Square</a:t>
            </a:r>
            <a:endParaRPr lang="en-US" sz="2600" u="sng"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R Square measures how much variability in a dependent variable can be explained by the model. It is a good metric to determine the fit on dependent variables. But, it does not take into consideration </a:t>
            </a:r>
            <a:r>
              <a:rPr lang="en-US" sz="2400" dirty="0" err="1">
                <a:latin typeface="Arial" panose="020B0604020202020204" pitchFamily="34" charset="0"/>
                <a:cs typeface="Arial" panose="020B0604020202020204" pitchFamily="34" charset="0"/>
              </a:rPr>
              <a:t>overfitting</a:t>
            </a:r>
            <a:r>
              <a:rPr lang="en-US" sz="2400" dirty="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D5EFACEF-20B2-4FB6-8C2A-91106E3866EC}" type="datetime3">
              <a:rPr lang="en-US" smtClean="0"/>
            </a:fld>
            <a:endParaRPr lang="en-US"/>
          </a:p>
        </p:txBody>
      </p:sp>
      <p:sp>
        <p:nvSpPr>
          <p:cNvPr id="5" name="Footer Placeholder 4"/>
          <p:cNvSpPr>
            <a:spLocks noGrp="1"/>
          </p:cNvSpPr>
          <p:nvPr>
            <p:ph type="ftr" sz="quarter" idx="11"/>
          </p:nvPr>
        </p:nvSpPr>
        <p:spPr/>
        <p:txBody>
          <a:bodyPr/>
          <a:lstStyle/>
          <a:p>
            <a:r>
              <a:rPr lang="en-US"/>
              <a:t>Department of CSE</a:t>
            </a:r>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pic>
        <p:nvPicPr>
          <p:cNvPr id="7" name="Picture 6"/>
          <p:cNvPicPr>
            <a:picLocks noChangeAspect="1"/>
          </p:cNvPicPr>
          <p:nvPr/>
        </p:nvPicPr>
        <p:blipFill>
          <a:blip r:embed="rId1"/>
          <a:stretch>
            <a:fillRect/>
          </a:stretch>
        </p:blipFill>
        <p:spPr>
          <a:xfrm>
            <a:off x="1066800" y="3629024"/>
            <a:ext cx="7090263" cy="2136538"/>
          </a:xfrm>
          <a:prstGeom prst="rect">
            <a:avLst/>
          </a:prstGeom>
        </p:spPr>
      </p:pic>
      <p:sp>
        <p:nvSpPr>
          <p:cNvPr id="8" name="TextBox 7"/>
          <p:cNvSpPr txBox="1"/>
          <p:nvPr/>
        </p:nvSpPr>
        <p:spPr>
          <a:xfrm>
            <a:off x="3657600" y="5803662"/>
            <a:ext cx="3200400" cy="369332"/>
          </a:xfrm>
          <a:prstGeom prst="rect">
            <a:avLst/>
          </a:prstGeom>
          <a:noFill/>
        </p:spPr>
        <p:txBody>
          <a:bodyPr wrap="square" rtlCol="0">
            <a:spAutoFit/>
          </a:bodyPr>
          <a:lstStyle/>
          <a:p>
            <a:r>
              <a:rPr lang="en-US" dirty="0"/>
              <a:t>Scoring metrics</a:t>
            </a:r>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2579195-81FD-49E6-89F1-C396C1BF64BC}" type="datetime3">
              <a:rPr lang="en-US" smtClean="0"/>
            </a:fld>
            <a:endParaRPr lang="en-US"/>
          </a:p>
        </p:txBody>
      </p:sp>
      <p:sp>
        <p:nvSpPr>
          <p:cNvPr id="5" name="Footer Placeholder 4"/>
          <p:cNvSpPr>
            <a:spLocks noGrp="1"/>
          </p:cNvSpPr>
          <p:nvPr>
            <p:ph type="ftr" sz="quarter" idx="11"/>
          </p:nvPr>
        </p:nvSpPr>
        <p:spPr/>
        <p:txBody>
          <a:bodyPr/>
          <a:lstStyle/>
          <a:p>
            <a:r>
              <a:rPr lang="en-US"/>
              <a:t>Department of CSE</a:t>
            </a:r>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
        <p:nvSpPr>
          <p:cNvPr id="7" name="Title 1"/>
          <p:cNvSpPr>
            <a:spLocks noGrp="1"/>
          </p:cNvSpPr>
          <p:nvPr>
            <p:ph type="title"/>
          </p:nvPr>
        </p:nvSpPr>
        <p:spPr>
          <a:xfrm>
            <a:off x="533400" y="381000"/>
            <a:ext cx="8229600" cy="685800"/>
          </a:xfrm>
        </p:spPr>
        <p:txBody>
          <a:bodyPr>
            <a:normAutofit fontScale="90000"/>
          </a:bodyPr>
          <a:lstStyle/>
          <a:p>
            <a:pPr algn="l"/>
            <a:br>
              <a:rPr lang="en-US" dirty="0">
                <a:latin typeface="Arial" panose="020B0604020202020204" pitchFamily="34" charset="0"/>
                <a:cs typeface="Arial" panose="020B0604020202020204" pitchFamily="34" charset="0"/>
              </a:rPr>
            </a:br>
            <a:r>
              <a:rPr lang="en-US" dirty="0">
                <a:solidFill>
                  <a:srgbClr val="C00000"/>
                </a:solidFill>
                <a:latin typeface="Arial" panose="020B0604020202020204" pitchFamily="34" charset="0"/>
                <a:cs typeface="Arial" panose="020B0604020202020204" pitchFamily="34" charset="0"/>
              </a:rPr>
              <a:t>Conclusion</a:t>
            </a: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p:sp>
        <p:nvSpPr>
          <p:cNvPr id="8" name="Content Placeholder 2"/>
          <p:cNvSpPr>
            <a:spLocks noGrp="1"/>
          </p:cNvSpPr>
          <p:nvPr>
            <p:ph idx="1"/>
          </p:nvPr>
        </p:nvSpPr>
        <p:spPr>
          <a:xfrm>
            <a:off x="533400" y="1295400"/>
            <a:ext cx="8229600" cy="5060950"/>
          </a:xfrm>
        </p:spPr>
        <p:txBody>
          <a:bodyPr>
            <a:normAutofit fontScale="25000" lnSpcReduction="20000"/>
          </a:bodyPr>
          <a:lstStyle/>
          <a:p>
            <a:pPr>
              <a:lnSpc>
                <a:spcPct val="120000"/>
              </a:lnSpc>
            </a:pPr>
            <a:endParaRPr lang="en-US" sz="8000" dirty="0">
              <a:latin typeface="Arial" panose="020B0604020202020204" pitchFamily="34" charset="0"/>
              <a:cs typeface="Arial" panose="020B0604020202020204" pitchFamily="34" charset="0"/>
            </a:endParaRPr>
          </a:p>
          <a:p>
            <a:pPr>
              <a:lnSpc>
                <a:spcPct val="120000"/>
              </a:lnSpc>
            </a:pPr>
            <a:r>
              <a:rPr lang="en-US" sz="8000" dirty="0">
                <a:latin typeface="Arial" panose="020B0604020202020204" pitchFamily="34" charset="0"/>
                <a:cs typeface="Arial" panose="020B0604020202020204" pitchFamily="34" charset="0"/>
              </a:rPr>
              <a:t>Cement, age and super plasticizer have a positive impact on the overall </a:t>
            </a:r>
            <a:r>
              <a:rPr lang="en-US" sz="8000" dirty="0" err="1">
                <a:latin typeface="Arial" panose="020B0604020202020204" pitchFamily="34" charset="0"/>
                <a:cs typeface="Arial" panose="020B0604020202020204" pitchFamily="34" charset="0"/>
              </a:rPr>
              <a:t>strength.Water</a:t>
            </a:r>
            <a:r>
              <a:rPr lang="en-US" sz="8000" dirty="0">
                <a:latin typeface="Arial" panose="020B0604020202020204" pitchFamily="34" charset="0"/>
                <a:cs typeface="Arial" panose="020B0604020202020204" pitchFamily="34" charset="0"/>
              </a:rPr>
              <a:t> is found to have a negative impact, but is often present in older concrete due to the curing processes.</a:t>
            </a:r>
            <a:endParaRPr lang="en-US" sz="8000" dirty="0">
              <a:latin typeface="Arial" panose="020B0604020202020204" pitchFamily="34" charset="0"/>
              <a:cs typeface="Arial" panose="020B0604020202020204" pitchFamily="34" charset="0"/>
            </a:endParaRPr>
          </a:p>
          <a:p>
            <a:pPr>
              <a:lnSpc>
                <a:spcPct val="120000"/>
              </a:lnSpc>
            </a:pPr>
            <a:endParaRPr lang="en-US" sz="8000" dirty="0">
              <a:latin typeface="Arial" panose="020B0604020202020204" pitchFamily="34" charset="0"/>
              <a:cs typeface="Arial" panose="020B0604020202020204" pitchFamily="34" charset="0"/>
            </a:endParaRPr>
          </a:p>
          <a:p>
            <a:pPr>
              <a:lnSpc>
                <a:spcPct val="120000"/>
              </a:lnSpc>
            </a:pPr>
            <a:r>
              <a:rPr lang="en-US" sz="8000" dirty="0">
                <a:latin typeface="Arial" panose="020B0604020202020204" pitchFamily="34" charset="0"/>
                <a:cs typeface="Arial" panose="020B0604020202020204" pitchFamily="34" charset="0"/>
              </a:rPr>
              <a:t>These insights are not intuitive and could be profound and beneficial in a business context.</a:t>
            </a:r>
            <a:endParaRPr lang="en-US" sz="8000" dirty="0">
              <a:latin typeface="Arial" panose="020B0604020202020204" pitchFamily="34" charset="0"/>
              <a:cs typeface="Arial" panose="020B0604020202020204" pitchFamily="34" charset="0"/>
            </a:endParaRPr>
          </a:p>
          <a:p>
            <a:endParaRPr lang="en-US" sz="8000" dirty="0">
              <a:latin typeface="Arial" panose="020B0604020202020204" pitchFamily="34" charset="0"/>
              <a:cs typeface="Arial" panose="020B0604020202020204" pitchFamily="34" charset="0"/>
            </a:endParaRPr>
          </a:p>
          <a:p>
            <a:r>
              <a:rPr lang="en-US" sz="8000" dirty="0">
                <a:latin typeface="Arial" panose="020B0604020202020204" pitchFamily="34" charset="0"/>
                <a:cs typeface="Arial" panose="020B0604020202020204" pitchFamily="34" charset="0"/>
              </a:rPr>
              <a:t>There is a clear opportunity for digital simulation to reduce wait time and total number of combinations. With the data set acquired we can learn about the relations between variables and develop a predictive model. </a:t>
            </a:r>
            <a:endParaRPr lang="en-US" sz="8000" dirty="0">
              <a:latin typeface="Arial" panose="020B0604020202020204" pitchFamily="34" charset="0"/>
              <a:cs typeface="Arial" panose="020B0604020202020204" pitchFamily="34" charset="0"/>
            </a:endParaRPr>
          </a:p>
          <a:p>
            <a:endParaRPr lang="en-US" sz="8000" dirty="0">
              <a:latin typeface="Arial" panose="020B0604020202020204" pitchFamily="34" charset="0"/>
              <a:cs typeface="Arial" panose="020B0604020202020204" pitchFamily="34" charset="0"/>
            </a:endParaRPr>
          </a:p>
          <a:p>
            <a:r>
              <a:rPr lang="en-US" sz="8000" dirty="0">
                <a:latin typeface="Arial" panose="020B0604020202020204" pitchFamily="34" charset="0"/>
                <a:cs typeface="Arial" panose="020B0604020202020204" pitchFamily="34" charset="0"/>
              </a:rPr>
              <a:t>Highlighting potentially optimal combinations to then be used in physical testing will provide enormous benefit and significantly reduce the labor and testing costs</a:t>
            </a:r>
            <a:r>
              <a:rPr lang="en-US" sz="4000" dirty="0">
                <a:latin typeface="Arial" panose="020B0604020202020204" pitchFamily="34" charset="0"/>
                <a:cs typeface="Arial" panose="020B0604020202020204" pitchFamily="34" charset="0"/>
              </a:rPr>
              <a:t>.</a:t>
            </a:r>
            <a:endParaRPr lang="en-US" sz="4000" dirty="0">
              <a:latin typeface="Arial" panose="020B0604020202020204" pitchFamily="34" charset="0"/>
              <a:cs typeface="Arial" panose="020B0604020202020204" pitchFamily="34" charset="0"/>
            </a:endParaRPr>
          </a:p>
          <a:p>
            <a:pPr marL="0" indent="0">
              <a:lnSpc>
                <a:spcPct val="120000"/>
              </a:lnSpc>
              <a:buNone/>
            </a:pPr>
            <a:endParaRPr lang="en-US" sz="2400" dirty="0">
              <a:latin typeface="Arial" panose="020B0604020202020204" pitchFamily="34" charset="0"/>
              <a:cs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4F69B32-0E0C-4807-A0B5-614CBAF77CE0}" type="datetime3">
              <a:rPr lang="en-US" smtClean="0"/>
            </a:fld>
            <a:endParaRPr lang="en-US"/>
          </a:p>
        </p:txBody>
      </p:sp>
      <p:sp>
        <p:nvSpPr>
          <p:cNvPr id="5" name="Footer Placeholder 4"/>
          <p:cNvSpPr>
            <a:spLocks noGrp="1"/>
          </p:cNvSpPr>
          <p:nvPr>
            <p:ph type="ftr" sz="quarter" idx="11"/>
          </p:nvPr>
        </p:nvSpPr>
        <p:spPr/>
        <p:txBody>
          <a:bodyPr/>
          <a:lstStyle/>
          <a:p>
            <a:r>
              <a:rPr lang="en-US"/>
              <a:t>Department of CSE</a:t>
            </a:r>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
        <p:nvSpPr>
          <p:cNvPr id="7" name="Title 1"/>
          <p:cNvSpPr txBox="1"/>
          <p:nvPr/>
        </p:nvSpPr>
        <p:spPr>
          <a:xfrm>
            <a:off x="457200" y="304800"/>
            <a:ext cx="8229600" cy="7620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US" sz="4000" dirty="0">
              <a:solidFill>
                <a:srgbClr val="C00000"/>
              </a:solidFill>
              <a:latin typeface="Arial" panose="020B0604020202020204" pitchFamily="34" charset="0"/>
              <a:cs typeface="Arial" panose="020B0604020202020204" pitchFamily="34" charset="0"/>
            </a:endParaRPr>
          </a:p>
          <a:p>
            <a:pPr algn="l"/>
            <a:r>
              <a:rPr lang="en-US" sz="4000" dirty="0">
                <a:solidFill>
                  <a:srgbClr val="C00000"/>
                </a:solidFill>
                <a:latin typeface="Arial" panose="020B0604020202020204" pitchFamily="34" charset="0"/>
                <a:cs typeface="Arial" panose="020B0604020202020204" pitchFamily="34" charset="0"/>
              </a:rPr>
              <a:t>References</a:t>
            </a:r>
            <a:br>
              <a:rPr lang="en-US" sz="4000" dirty="0">
                <a:latin typeface="Arial" panose="020B0604020202020204" pitchFamily="34" charset="0"/>
                <a:cs typeface="Arial" panose="020B0604020202020204" pitchFamily="34" charset="0"/>
              </a:rPr>
            </a:br>
            <a:endParaRPr lang="en-US" sz="4000" dirty="0">
              <a:latin typeface="Arial" panose="020B0604020202020204" pitchFamily="34" charset="0"/>
              <a:cs typeface="Arial" panose="020B0604020202020204" pitchFamily="34" charset="0"/>
            </a:endParaRPr>
          </a:p>
        </p:txBody>
      </p:sp>
      <p:graphicFrame>
        <p:nvGraphicFramePr>
          <p:cNvPr id="8" name="Content Placeholder 6"/>
          <p:cNvGraphicFramePr>
            <a:graphicFrameLocks noGrp="1"/>
          </p:cNvGraphicFramePr>
          <p:nvPr>
            <p:ph idx="1"/>
          </p:nvPr>
        </p:nvGraphicFramePr>
        <p:xfrm>
          <a:off x="610235" y="1271270"/>
          <a:ext cx="8153400" cy="5166360"/>
        </p:xfrm>
        <a:graphic>
          <a:graphicData uri="http://schemas.openxmlformats.org/drawingml/2006/table">
            <a:tbl>
              <a:tblPr firstRow="1" bandRow="1">
                <a:tableStyleId>{5940675A-B579-460E-94D1-54222C63F5DA}</a:tableStyleId>
              </a:tblPr>
              <a:tblGrid>
                <a:gridCol w="470535"/>
                <a:gridCol w="7682865"/>
              </a:tblGrid>
              <a:tr h="1051560">
                <a:tc>
                  <a:txBody>
                    <a:bodyPr/>
                    <a:lstStyle/>
                    <a:p>
                      <a:r>
                        <a:rPr lang="en-US" sz="1600" dirty="0"/>
                        <a:t>[1]</a:t>
                      </a:r>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just" defTabSz="914400" rtl="0" eaLnBrk="1" fontAlgn="auto" latinLnBrk="0" hangingPunct="1">
                        <a:lnSpc>
                          <a:spcPct val="150000"/>
                        </a:lnSpc>
                        <a:spcBef>
                          <a:spcPts val="0"/>
                        </a:spcBef>
                        <a:spcAft>
                          <a:spcPts val="0"/>
                        </a:spcAft>
                        <a:buClrTx/>
                        <a:buSzTx/>
                        <a:buFontTx/>
                        <a:buNone/>
                        <a:defRPr/>
                      </a:pPr>
                      <a:r>
                        <a:rPr lang="en-IN" sz="1400" dirty="0" err="1">
                          <a:effectLst/>
                          <a:latin typeface="Arial" panose="020B0604020202020204" pitchFamily="34" charset="0"/>
                          <a:ea typeface="Calibri" panose="020F0502020204030204" charset="0"/>
                          <a:cs typeface="Arial" panose="020B0604020202020204" pitchFamily="34" charset="0"/>
                          <a:sym typeface="+mn-ea"/>
                        </a:rPr>
                        <a:t>Kiambigi</a:t>
                      </a:r>
                      <a:r>
                        <a:rPr lang="en-IN" sz="1400" dirty="0">
                          <a:effectLst/>
                          <a:latin typeface="Arial" panose="020B0604020202020204" pitchFamily="34" charset="0"/>
                          <a:ea typeface="Calibri" panose="020F0502020204030204" charset="0"/>
                          <a:cs typeface="Arial" panose="020B0604020202020204" pitchFamily="34" charset="0"/>
                          <a:sym typeface="+mn-ea"/>
                        </a:rPr>
                        <a:t>, </a:t>
                      </a:r>
                      <a:r>
                        <a:rPr lang="en-IN" sz="1400" dirty="0" err="1">
                          <a:effectLst/>
                          <a:latin typeface="Arial" panose="020B0604020202020204" pitchFamily="34" charset="0"/>
                          <a:ea typeface="Calibri" panose="020F0502020204030204" charset="0"/>
                          <a:cs typeface="Arial" panose="020B0604020202020204" pitchFamily="34" charset="0"/>
                          <a:sym typeface="+mn-ea"/>
                        </a:rPr>
                        <a:t>Maina</a:t>
                      </a:r>
                      <a:r>
                        <a:rPr lang="en-IN" sz="1400" dirty="0">
                          <a:effectLst/>
                          <a:latin typeface="Arial" panose="020B0604020202020204" pitchFamily="34" charset="0"/>
                          <a:ea typeface="Calibri" panose="020F0502020204030204" charset="0"/>
                          <a:cs typeface="Arial" panose="020B0604020202020204" pitchFamily="34" charset="0"/>
                          <a:sym typeface="+mn-ea"/>
                        </a:rPr>
                        <a:t>, </a:t>
                      </a:r>
                      <a:r>
                        <a:rPr lang="en-IN" sz="1400" dirty="0" err="1">
                          <a:effectLst/>
                          <a:latin typeface="Arial" panose="020B0604020202020204" pitchFamily="34" charset="0"/>
                          <a:ea typeface="Calibri" panose="020F0502020204030204" charset="0"/>
                          <a:cs typeface="Arial" panose="020B0604020202020204" pitchFamily="34" charset="0"/>
                          <a:sym typeface="+mn-ea"/>
                        </a:rPr>
                        <a:t>Gwaya</a:t>
                      </a:r>
                      <a:r>
                        <a:rPr lang="en-IN" sz="1400" dirty="0">
                          <a:effectLst/>
                          <a:latin typeface="Arial" panose="020B0604020202020204" pitchFamily="34" charset="0"/>
                          <a:ea typeface="Calibri" panose="020F0502020204030204" charset="0"/>
                          <a:cs typeface="Arial" panose="020B0604020202020204" pitchFamily="34" charset="0"/>
                          <a:sym typeface="+mn-ea"/>
                        </a:rPr>
                        <a:t>, A.O, </a:t>
                      </a:r>
                      <a:r>
                        <a:rPr lang="en-IN" sz="1400" dirty="0" err="1">
                          <a:effectLst/>
                          <a:latin typeface="Arial" panose="020B0604020202020204" pitchFamily="34" charset="0"/>
                          <a:ea typeface="Calibri" panose="020F0502020204030204" charset="0"/>
                          <a:cs typeface="Arial" panose="020B0604020202020204" pitchFamily="34" charset="0"/>
                          <a:sym typeface="+mn-ea"/>
                        </a:rPr>
                        <a:t>Koteng</a:t>
                      </a:r>
                      <a:r>
                        <a:rPr lang="en-IN" sz="1400" dirty="0">
                          <a:effectLst/>
                          <a:latin typeface="Arial" panose="020B0604020202020204" pitchFamily="34" charset="0"/>
                          <a:ea typeface="Calibri" panose="020F0502020204030204" charset="0"/>
                          <a:cs typeface="Arial" panose="020B0604020202020204" pitchFamily="34" charset="0"/>
                          <a:sym typeface="+mn-ea"/>
                        </a:rPr>
                        <a:t>, D.O, “Concrete Strength Prediction using </a:t>
                      </a:r>
                      <a:r>
                        <a:rPr lang="en-IN" sz="1400" dirty="0" err="1">
                          <a:effectLst/>
                          <a:latin typeface="Arial" panose="020B0604020202020204" pitchFamily="34" charset="0"/>
                          <a:ea typeface="Calibri" panose="020F0502020204030204" charset="0"/>
                          <a:cs typeface="Arial" panose="020B0604020202020204" pitchFamily="34" charset="0"/>
                          <a:sym typeface="+mn-ea"/>
                        </a:rPr>
                        <a:t>MultiLinear</a:t>
                      </a:r>
                      <a:r>
                        <a:rPr lang="en-IN" sz="1400" dirty="0">
                          <a:effectLst/>
                          <a:latin typeface="Arial" panose="020B0604020202020204" pitchFamily="34" charset="0"/>
                          <a:ea typeface="Calibri" panose="020F0502020204030204" charset="0"/>
                          <a:cs typeface="Arial" panose="020B0604020202020204" pitchFamily="34" charset="0"/>
                          <a:sym typeface="+mn-ea"/>
                        </a:rPr>
                        <a:t> Regression Model: A case study of Nairobi Metropolitan”, International Journal of Soft Computing and Engineering (IJSCE), Volume 8, Year 2019, Pages 11-20</a:t>
                      </a:r>
                      <a:endParaRPr lang="en-IN" sz="1400" dirty="0">
                        <a:effectLst/>
                        <a:latin typeface="Arial" panose="020B0604020202020204" pitchFamily="34" charset="0"/>
                        <a:ea typeface="Calibri" panose="020F0502020204030204" charset="0"/>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1362075">
                <a:tc>
                  <a:txBody>
                    <a:bodyPr/>
                    <a:lstStyle/>
                    <a:p>
                      <a:r>
                        <a:rPr lang="en-US" sz="1600" dirty="0"/>
                        <a:t>[2]</a:t>
                      </a:r>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50000"/>
                        </a:lnSpc>
                        <a:spcBef>
                          <a:spcPts val="0"/>
                        </a:spcBef>
                        <a:spcAft>
                          <a:spcPts val="0"/>
                        </a:spcAft>
                        <a:buClrTx/>
                        <a:buSzTx/>
                        <a:buFontTx/>
                        <a:buNone/>
                        <a:defRPr/>
                      </a:pPr>
                      <a:r>
                        <a:rPr lang="en-IN" sz="1400" kern="1200" dirty="0" err="1">
                          <a:solidFill>
                            <a:schemeClr val="tx1"/>
                          </a:solidFill>
                          <a:effectLst/>
                          <a:latin typeface="Arial" panose="020B0604020202020204" pitchFamily="34" charset="0"/>
                          <a:ea typeface="+mn-ea"/>
                          <a:cs typeface="Arial" panose="020B0604020202020204" pitchFamily="34" charset="0"/>
                        </a:rPr>
                        <a:t>Jee</a:t>
                      </a:r>
                      <a:r>
                        <a:rPr lang="en-IN" sz="1400" kern="1200" dirty="0">
                          <a:solidFill>
                            <a:schemeClr val="tx1"/>
                          </a:solidFill>
                          <a:effectLst/>
                          <a:latin typeface="Arial" panose="020B0604020202020204" pitchFamily="34" charset="0"/>
                          <a:ea typeface="+mn-ea"/>
                          <a:cs typeface="Arial" panose="020B0604020202020204" pitchFamily="34" charset="0"/>
                        </a:rPr>
                        <a:t> </a:t>
                      </a:r>
                      <a:r>
                        <a:rPr lang="en-IN" sz="1400" kern="1200" dirty="0" err="1">
                          <a:solidFill>
                            <a:schemeClr val="tx1"/>
                          </a:solidFill>
                          <a:effectLst/>
                          <a:latin typeface="Arial" panose="020B0604020202020204" pitchFamily="34" charset="0"/>
                          <a:ea typeface="+mn-ea"/>
                          <a:cs typeface="Arial" panose="020B0604020202020204" pitchFamily="34" charset="0"/>
                        </a:rPr>
                        <a:t>Namyong</a:t>
                      </a:r>
                      <a:r>
                        <a:rPr lang="en-IN" sz="1400" kern="1200" dirty="0">
                          <a:solidFill>
                            <a:schemeClr val="tx1"/>
                          </a:solidFill>
                          <a:effectLst/>
                          <a:latin typeface="Arial" panose="020B0604020202020204" pitchFamily="34" charset="0"/>
                          <a:ea typeface="+mn-ea"/>
                          <a:cs typeface="Arial" panose="020B0604020202020204" pitchFamily="34" charset="0"/>
                        </a:rPr>
                        <a:t>, Yoon </a:t>
                      </a:r>
                      <a:r>
                        <a:rPr lang="en-IN" sz="1400" kern="1200" dirty="0" err="1">
                          <a:solidFill>
                            <a:schemeClr val="tx1"/>
                          </a:solidFill>
                          <a:effectLst/>
                          <a:latin typeface="Arial" panose="020B0604020202020204" pitchFamily="34" charset="0"/>
                          <a:ea typeface="+mn-ea"/>
                          <a:cs typeface="Arial" panose="020B0604020202020204" pitchFamily="34" charset="0"/>
                        </a:rPr>
                        <a:t>Sangchun</a:t>
                      </a:r>
                      <a:r>
                        <a:rPr lang="en-IN" sz="1400" kern="1200" dirty="0">
                          <a:solidFill>
                            <a:schemeClr val="tx1"/>
                          </a:solidFill>
                          <a:effectLst/>
                          <a:latin typeface="Arial" panose="020B0604020202020204" pitchFamily="34" charset="0"/>
                          <a:ea typeface="+mn-ea"/>
                          <a:cs typeface="Arial" panose="020B0604020202020204" pitchFamily="34" charset="0"/>
                        </a:rPr>
                        <a:t> &amp; Cho </a:t>
                      </a:r>
                      <a:r>
                        <a:rPr lang="en-IN" sz="1400" kern="1200" dirty="0" err="1">
                          <a:solidFill>
                            <a:schemeClr val="tx1"/>
                          </a:solidFill>
                          <a:effectLst/>
                          <a:latin typeface="Arial" panose="020B0604020202020204" pitchFamily="34" charset="0"/>
                          <a:ea typeface="+mn-ea"/>
                          <a:cs typeface="Arial" panose="020B0604020202020204" pitchFamily="34" charset="0"/>
                        </a:rPr>
                        <a:t>Hongbum</a:t>
                      </a:r>
                      <a:r>
                        <a:rPr lang="en-IN" sz="1400" kern="1200" dirty="0">
                          <a:solidFill>
                            <a:schemeClr val="tx1"/>
                          </a:solidFill>
                          <a:effectLst/>
                          <a:latin typeface="Arial" panose="020B0604020202020204" pitchFamily="34" charset="0"/>
                          <a:ea typeface="+mn-ea"/>
                          <a:cs typeface="Arial" panose="020B0604020202020204" pitchFamily="34" charset="0"/>
                        </a:rPr>
                        <a:t>, “Prediction of Compressive Strength of In-Situ Concrete Based on Mixture Proportions”, Journal of Asian Architecture and Building Engineering, Vol. 3, Year 2018, Pages 9-16 </a:t>
                      </a:r>
                      <a:endParaRPr lang="en-IN" sz="1400" kern="1200" dirty="0">
                        <a:solidFill>
                          <a:schemeClr val="tx1"/>
                        </a:solidFill>
                        <a:effectLst/>
                        <a:latin typeface="Arial" panose="020B0604020202020204" pitchFamily="34" charset="0"/>
                        <a:ea typeface="+mn-ea"/>
                        <a:cs typeface="Arial" panose="020B0604020202020204" pitchFamily="34" charset="0"/>
                      </a:endParaRPr>
                    </a:p>
                    <a:p>
                      <a:pPr algn="just">
                        <a:lnSpc>
                          <a:spcPct val="150000"/>
                        </a:lnSpc>
                      </a:pPr>
                      <a:endParaRPr lang="en-IN" sz="1400" kern="1200" dirty="0">
                        <a:solidFill>
                          <a:schemeClr val="tx1"/>
                        </a:solidFill>
                        <a:effectLst/>
                        <a:latin typeface="Arial" panose="020B0604020202020204" pitchFamily="34" charset="0"/>
                        <a:ea typeface="+mn-ea"/>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1691640">
                <a:tc>
                  <a:txBody>
                    <a:bodyPr/>
                    <a:lstStyle/>
                    <a:p>
                      <a:r>
                        <a:rPr lang="en-US" sz="1600" dirty="0"/>
                        <a:t>[3]</a:t>
                      </a:r>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lnSpc>
                          <a:spcPct val="150000"/>
                        </a:lnSpc>
                      </a:pPr>
                      <a:r>
                        <a:rPr lang="en-IN" sz="1400" dirty="0" err="1">
                          <a:effectLst/>
                          <a:latin typeface="Arial" panose="020B0604020202020204" pitchFamily="34" charset="0"/>
                          <a:ea typeface="Calibri" panose="020F0502020204030204" charset="0"/>
                          <a:cs typeface="Arial" panose="020B0604020202020204" pitchFamily="34" charset="0"/>
                          <a:sym typeface="+mn-ea"/>
                        </a:rPr>
                        <a:t>Phijo</a:t>
                      </a:r>
                      <a:r>
                        <a:rPr lang="en-IN" sz="1400" dirty="0">
                          <a:effectLst/>
                          <a:latin typeface="Arial" panose="020B0604020202020204" pitchFamily="34" charset="0"/>
                          <a:ea typeface="Calibri" panose="020F0502020204030204" charset="0"/>
                          <a:cs typeface="Arial" panose="020B0604020202020204" pitchFamily="34" charset="0"/>
                          <a:sym typeface="+mn-ea"/>
                        </a:rPr>
                        <a:t> J </a:t>
                      </a:r>
                      <a:r>
                        <a:rPr lang="en-IN" sz="1400" dirty="0" err="1">
                          <a:effectLst/>
                          <a:latin typeface="Arial" panose="020B0604020202020204" pitchFamily="34" charset="0"/>
                          <a:ea typeface="Calibri" panose="020F0502020204030204" charset="0"/>
                          <a:cs typeface="Arial" panose="020B0604020202020204" pitchFamily="34" charset="0"/>
                          <a:sym typeface="+mn-ea"/>
                        </a:rPr>
                        <a:t>Cherickal</a:t>
                      </a:r>
                      <a:r>
                        <a:rPr lang="en-IN" sz="1400" dirty="0">
                          <a:effectLst/>
                          <a:latin typeface="Arial" panose="020B0604020202020204" pitchFamily="34" charset="0"/>
                          <a:ea typeface="Calibri" panose="020F0502020204030204" charset="0"/>
                          <a:cs typeface="Arial" panose="020B0604020202020204" pitchFamily="34" charset="0"/>
                          <a:sym typeface="+mn-ea"/>
                        </a:rPr>
                        <a:t>, Vidhya V Kumar, </a:t>
                      </a:r>
                      <a:r>
                        <a:rPr lang="en-IN" sz="1400" dirty="0" err="1">
                          <a:effectLst/>
                          <a:latin typeface="Arial" panose="020B0604020202020204" pitchFamily="34" charset="0"/>
                          <a:ea typeface="Calibri" panose="020F0502020204030204" charset="0"/>
                          <a:cs typeface="Arial" panose="020B0604020202020204" pitchFamily="34" charset="0"/>
                          <a:sym typeface="+mn-ea"/>
                        </a:rPr>
                        <a:t>Ranjini</a:t>
                      </a:r>
                      <a:r>
                        <a:rPr lang="en-IN" sz="1400" dirty="0">
                          <a:effectLst/>
                          <a:latin typeface="Arial" panose="020B0604020202020204" pitchFamily="34" charset="0"/>
                          <a:ea typeface="Calibri" panose="020F0502020204030204" charset="0"/>
                          <a:cs typeface="Arial" panose="020B0604020202020204" pitchFamily="34" charset="0"/>
                          <a:sym typeface="+mn-ea"/>
                        </a:rPr>
                        <a:t> Mariam </a:t>
                      </a:r>
                      <a:r>
                        <a:rPr lang="en-IN" sz="1400" dirty="0" err="1">
                          <a:effectLst/>
                          <a:latin typeface="Arial" panose="020B0604020202020204" pitchFamily="34" charset="0"/>
                          <a:ea typeface="Calibri" panose="020F0502020204030204" charset="0"/>
                          <a:cs typeface="Arial" panose="020B0604020202020204" pitchFamily="34" charset="0"/>
                          <a:sym typeface="+mn-ea"/>
                        </a:rPr>
                        <a:t>Philipose</a:t>
                      </a:r>
                      <a:r>
                        <a:rPr lang="en-IN" sz="1400" dirty="0">
                          <a:effectLst/>
                          <a:latin typeface="Arial" panose="020B0604020202020204" pitchFamily="34" charset="0"/>
                          <a:ea typeface="Calibri" panose="020F0502020204030204" charset="0"/>
                          <a:cs typeface="Arial" panose="020B0604020202020204" pitchFamily="34" charset="0"/>
                          <a:sym typeface="+mn-ea"/>
                        </a:rPr>
                        <a:t>, Shailesh S, </a:t>
                      </a:r>
                      <a:r>
                        <a:rPr lang="en-IN" sz="1400" dirty="0" err="1">
                          <a:effectLst/>
                          <a:latin typeface="Arial" panose="020B0604020202020204" pitchFamily="34" charset="0"/>
                          <a:ea typeface="Calibri" panose="020F0502020204030204" charset="0"/>
                          <a:cs typeface="Arial" panose="020B0604020202020204" pitchFamily="34" charset="0"/>
                          <a:sym typeface="+mn-ea"/>
                        </a:rPr>
                        <a:t>Tiji</a:t>
                      </a:r>
                      <a:r>
                        <a:rPr lang="en-IN" sz="1400" dirty="0">
                          <a:effectLst/>
                          <a:latin typeface="Arial" panose="020B0604020202020204" pitchFamily="34" charset="0"/>
                          <a:ea typeface="Calibri" panose="020F0502020204030204" charset="0"/>
                          <a:cs typeface="Arial" panose="020B0604020202020204" pitchFamily="34" charset="0"/>
                          <a:sym typeface="+mn-ea"/>
                        </a:rPr>
                        <a:t> Thomas, “Compression Strength Prediction Using Machine Learning Techniques”, International Journal of Advanced Trends in Computer Science and Engineering, Vol. 10, No.1, Year 2021, Pages 301-307</a:t>
                      </a:r>
                      <a:endParaRPr lang="en-IN" sz="1400" dirty="0">
                        <a:effectLst/>
                        <a:latin typeface="Arial" panose="020B0604020202020204" pitchFamily="34" charset="0"/>
                        <a:ea typeface="Calibri" panose="020F0502020204030204" charset="0"/>
                        <a:cs typeface="Arial" panose="020B0604020202020204" pitchFamily="34" charset="0"/>
                      </a:endParaRPr>
                    </a:p>
                    <a:p>
                      <a:pPr algn="just">
                        <a:lnSpc>
                          <a:spcPct val="150000"/>
                        </a:lnSpc>
                      </a:pPr>
                      <a:endParaRPr lang="en-IN" sz="1400" dirty="0">
                        <a:effectLst/>
                        <a:latin typeface="Arial" panose="020B0604020202020204" pitchFamily="34" charset="0"/>
                        <a:ea typeface="Calibri" panose="020F0502020204030204" charset="0"/>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1051560">
                <a:tc>
                  <a:txBody>
                    <a:bodyPr/>
                    <a:lstStyle/>
                    <a:p>
                      <a:r>
                        <a:rPr lang="en-US" sz="1600" dirty="0"/>
                        <a:t>[4]</a:t>
                      </a:r>
                      <a:endParaRPr lang="en-US"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lnSpc>
                          <a:spcPct val="150000"/>
                        </a:lnSpc>
                      </a:pPr>
                      <a:r>
                        <a:rPr lang="en-IN" sz="1400" kern="1200" dirty="0">
                          <a:solidFill>
                            <a:schemeClr val="tx1"/>
                          </a:solidFill>
                          <a:effectLst/>
                          <a:latin typeface="Arial" panose="020B0604020202020204" pitchFamily="34" charset="0"/>
                          <a:ea typeface="+mn-ea"/>
                          <a:cs typeface="Arial" panose="020B0604020202020204" pitchFamily="34" charset="0"/>
                        </a:rPr>
                        <a:t>P. Silva, G. </a:t>
                      </a:r>
                      <a:r>
                        <a:rPr lang="en-IN" sz="1400" kern="1200" dirty="0" err="1">
                          <a:solidFill>
                            <a:schemeClr val="tx1"/>
                          </a:solidFill>
                          <a:effectLst/>
                          <a:latin typeface="Arial" panose="020B0604020202020204" pitchFamily="34" charset="0"/>
                          <a:ea typeface="+mn-ea"/>
                          <a:cs typeface="Arial" panose="020B0604020202020204" pitchFamily="34" charset="0"/>
                        </a:rPr>
                        <a:t>Moita</a:t>
                      </a:r>
                      <a:r>
                        <a:rPr lang="en-IN" sz="1400" kern="1200" dirty="0">
                          <a:solidFill>
                            <a:schemeClr val="tx1"/>
                          </a:solidFill>
                          <a:effectLst/>
                          <a:latin typeface="Arial" panose="020B0604020202020204" pitchFamily="34" charset="0"/>
                          <a:ea typeface="+mn-ea"/>
                          <a:cs typeface="Arial" panose="020B0604020202020204" pitchFamily="34" charset="0"/>
                        </a:rPr>
                        <a:t> and V. Arruda, “Machine Learning techniques to predict the Compressive Strength of Concrete”, International Journal of Numerical Methods for Calculation and Design in Engineering (RIMNI), Vol. 36, Year 2020, Pages 1-48</a:t>
                      </a:r>
                      <a:endParaRPr lang="en-IN" sz="1400" kern="1200" dirty="0">
                        <a:solidFill>
                          <a:schemeClr val="tx1"/>
                        </a:solidFill>
                        <a:effectLst/>
                        <a:latin typeface="Arial" panose="020B0604020202020204" pitchFamily="34" charset="0"/>
                        <a:ea typeface="+mn-ea"/>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bl>
          </a:graphicData>
        </a:graphic>
      </p:graphicFrame>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8789</Words>
  <Application>WPS Presentation</Application>
  <PresentationFormat>On-screen Show (4:3)</PresentationFormat>
  <Paragraphs>399</Paragraphs>
  <Slides>27</Slides>
  <Notes>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27</vt:i4>
      </vt:variant>
    </vt:vector>
  </HeadingPairs>
  <TitlesOfParts>
    <vt:vector size="35" baseType="lpstr">
      <vt:lpstr>Arial</vt:lpstr>
      <vt:lpstr>SimSun</vt:lpstr>
      <vt:lpstr>Wingdings</vt:lpstr>
      <vt:lpstr>Arial Black</vt:lpstr>
      <vt:lpstr>Calibri</vt:lpstr>
      <vt:lpstr>Microsoft YaHei</vt:lpstr>
      <vt:lpstr>Arial Unicode MS</vt:lpstr>
      <vt:lpstr>Custom Design</vt:lpstr>
      <vt:lpstr> </vt:lpstr>
      <vt:lpstr>Presentation Outline</vt:lpstr>
      <vt:lpstr>PowerPoint 演示文稿</vt:lpstr>
      <vt:lpstr>PowerPoint 演示文稿</vt:lpstr>
      <vt:lpstr>Introduction</vt:lpstr>
      <vt:lpstr>Objectives</vt:lpstr>
      <vt:lpstr>PowerPoint 演示文稿</vt:lpstr>
      <vt:lpstr>Modules </vt:lpstr>
      <vt:lpstr>System Requirements </vt:lpstr>
      <vt:lpstr>Dataset Description</vt:lpstr>
      <vt:lpstr>Exploratory Data Analysis</vt:lpstr>
      <vt:lpstr>Exploratory Data Analysis</vt:lpstr>
      <vt:lpstr>Data Pre-processing</vt:lpstr>
      <vt:lpstr>Data Pre-processing</vt:lpstr>
      <vt:lpstr>Data Pre-processing</vt:lpstr>
      <vt:lpstr>Model Generation Using multiple linear regression </vt:lpstr>
      <vt:lpstr> Model Generation Using multiple linear regression</vt:lpstr>
      <vt:lpstr>Application snapshots</vt:lpstr>
      <vt:lpstr>Application snapshots</vt:lpstr>
      <vt:lpstr>Application snapshots</vt:lpstr>
      <vt:lpstr>Results and Discussion</vt:lpstr>
      <vt:lpstr>Results and Discussion</vt:lpstr>
      <vt:lpstr>Results and Discussion</vt:lpstr>
      <vt:lpstr>Results and Discussion</vt:lpstr>
      <vt:lpstr>Results and Discussion</vt:lpstr>
      <vt:lpstr> Conclusion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google1600145887</cp:lastModifiedBy>
  <cp:revision>102</cp:revision>
  <dcterms:created xsi:type="dcterms:W3CDTF">2019-11-06T07:48:00Z</dcterms:created>
  <dcterms:modified xsi:type="dcterms:W3CDTF">2021-11-13T13:21:11Z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20A44D5D108244E0913F7852AE58CAD9</vt:lpwstr>
  </property>
  <property fmtid="{D5CDD505-2E9C-101B-9397-08002B2CF9AE}" pid="3" name="KSOProductBuildVer">
    <vt:lpwstr>1033-11.2.0.10351</vt:lpwstr>
  </property>
</Properties>
</file>